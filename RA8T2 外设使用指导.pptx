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65" r:id="rId8"/>
    <p:sldId id="259" r:id="rId9"/>
    <p:sldId id="263" r:id="rId10"/>
    <p:sldId id="266" r:id="rId11"/>
    <p:sldId id="267" r:id="rId12"/>
    <p:sldId id="264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26A5-C09E-A8A9-0400-74F5FE8C9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5C055-3E8A-9BAE-9078-2856C47ED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79064-BF02-4055-FB0B-CF16FE25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0A1E0-0ED8-1F41-FC15-6574BDE8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4A8CD-B736-D691-5079-F3E4E3A7B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7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6CD8-EF2D-76AE-F2EC-546EBFC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FA42C-4862-C536-7A30-AED72363F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E3F42-5E7E-64BD-3184-B1EADEA6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7BE59-332B-290F-78A5-47534644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4D01E-D656-D867-0CB2-D664FFE3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0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F2F6-4C64-EA40-E03D-36C53FB5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5ADE9-D0FA-6C4D-CDEE-F0FFD648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51C20-3735-D49C-ED5C-180E9FEC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7A794-3155-6C3A-3C87-280B23EB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036C6-91EE-658B-2D49-BD89C00C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5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926C-858D-9106-6527-23D76123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8BE7-C905-7604-B68D-A22A8C836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D1BCE-9DC0-42C4-2BB0-8A6442D4E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1FD99-A113-D781-5366-3C26DF6B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940A7-1ED5-CF9D-EAED-6192DBAA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C4938-719B-603C-BA0C-69CF599D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3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5D733-7B64-A1CF-31D4-8B21E749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C4C0E-2893-2077-FE8E-771A77CE9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B938-4723-FF44-B8A3-288B6FB57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184572-F1C0-BB2A-E4AC-569FD65F2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8D996-80C8-2B61-8213-2ACEF39E5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87E417-6D82-92B6-452E-BA2FA070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AA185E-FB84-3FC0-182C-ADE932D1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34CB6-DF90-1308-B197-D0B8C85C3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2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B619-D47A-9278-D4E1-0670E07F3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D412E-0CC6-4C4C-0081-207E2CE8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E2738-5F27-E8B2-0077-B90013C46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E4FCB-5532-F8F7-E32E-22831E29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7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547D70-CEE4-79DB-D4FF-833CB8DD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66B28-DEC1-362E-A9BC-579B5C0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5A8E9-4520-D2D3-BE7D-2AD80A16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6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4AE81-7434-D48F-FC1C-A10D0F5D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C3973-E725-D64B-699A-24CD2EB6F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A71CD-B6DA-9B5D-B6CD-0576F4411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FBA3F-C766-F1A3-842F-8B6FA8E8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86310-B279-D3EF-7103-0E7F7A87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1ED2C-082C-221D-12B8-46ECAD01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3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7EED-FC89-6866-C5D7-9E7AB0F9B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B5EA-2CE3-85FA-E120-8EDA99CA4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89D2A-B7AF-614E-804B-B789D3AA1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9E5CC-E83D-890C-DBB6-42BA7265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D4369-82B6-3AF3-BDDD-7F49F0AB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20332-D3DA-6421-37D8-041C15FA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145A-4FDA-0F41-3D29-BACFF32F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7CD7A-37EE-463F-4B1B-C60E053AD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E78B6-7F98-D577-9853-AAF7B4BD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DF95-DF8F-BEF9-5F5B-F6AB281C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A6EE3-FCBB-73AF-A1D3-0C7CE415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8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3EA7B8-DDAB-0F7B-B742-DDC7A0DEE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EA5BE-E3B5-8D62-9F18-5B8A5F44F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FDE3-1AC3-9A49-2F9B-CF9D1AB5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92DE3-E121-174F-22F2-907A1101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58A09-3B6F-2E7D-9D15-01E67D79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9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E72CD8-4A93-FFFA-40B3-17F10C78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9E6E8-0B0C-BB6E-B6B3-888EC111D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4D1AD-7A5B-79D8-4CD2-C5439B8900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EC105-BE58-48DE-9ABF-B2C3C8FB05B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0D73A-E3CF-880E-D51F-B4E6E0C53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F3D5E-80D5-956D-369F-FA71EA68F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E1E68-6127-4925-B952-49849DAF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7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DB43-E7C4-1355-F109-F7B877B6B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RA8T2 </a:t>
            </a:r>
            <a:r>
              <a:rPr lang="zh-CN" altLang="en-US" dirty="0"/>
              <a:t>外设使用指导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A283A-83FB-BBFE-0F44-6EBA8EC23D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Carter liu</a:t>
            </a:r>
            <a:r>
              <a:rPr lang="zh-CN" altLang="en-US" dirty="0"/>
              <a:t> </a:t>
            </a:r>
            <a:r>
              <a:rPr lang="en-US" altLang="zh-CN" dirty="0"/>
              <a:t>20251201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10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0731-CB70-5722-2A2E-71AB25F5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82" y="451754"/>
            <a:ext cx="9483292" cy="58777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运算代码执行在</a:t>
            </a:r>
            <a:r>
              <a:rPr lang="en-US" altLang="zh-CN" dirty="0" err="1"/>
              <a:t>itcm</a:t>
            </a:r>
            <a:r>
              <a:rPr lang="en-US" altLang="zh-CN" dirty="0"/>
              <a:t>: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D41ECE1-FF0C-AECB-6C1E-0F7CDD24A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8711" y="1309688"/>
            <a:ext cx="5298955" cy="21193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381872-4BFF-7A72-2C10-D958ADF30DA8}"/>
              </a:ext>
            </a:extLst>
          </p:cNvPr>
          <p:cNvSpPr txBox="1"/>
          <p:nvPr/>
        </p:nvSpPr>
        <p:spPr>
          <a:xfrm>
            <a:off x="988994" y="952183"/>
            <a:ext cx="94832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#pragma </a:t>
            </a:r>
            <a:r>
              <a:rPr lang="en-US" dirty="0" err="1"/>
              <a:t>default_function_attributes</a:t>
            </a:r>
            <a:r>
              <a:rPr lang="en-US" dirty="0"/>
              <a:t> = @ ".</a:t>
            </a:r>
            <a:r>
              <a:rPr lang="en-US" dirty="0" err="1"/>
              <a:t>itcm_code_from_flash</a:t>
            </a:r>
            <a:r>
              <a:rPr lang="en-US" dirty="0"/>
              <a:t>“</a:t>
            </a:r>
          </a:p>
          <a:p>
            <a:r>
              <a:rPr lang="en-US" dirty="0"/>
              <a:t>Func1();</a:t>
            </a:r>
          </a:p>
          <a:p>
            <a:r>
              <a:rPr lang="en-US" dirty="0"/>
              <a:t>Func2();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#pragma </a:t>
            </a:r>
            <a:r>
              <a:rPr lang="en-US" dirty="0" err="1"/>
              <a:t>default_function_attributes</a:t>
            </a:r>
            <a:r>
              <a:rPr lang="en-US" dirty="0"/>
              <a:t> =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FE86C8-635C-647D-9167-833B891F4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94" y="3629840"/>
            <a:ext cx="7954998" cy="26917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81BCC6-7D86-3BAE-A020-84D82D08020D}"/>
              </a:ext>
            </a:extLst>
          </p:cNvPr>
          <p:cNvSpPr txBox="1"/>
          <p:nvPr/>
        </p:nvSpPr>
        <p:spPr>
          <a:xfrm>
            <a:off x="6265368" y="5949992"/>
            <a:ext cx="189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执行时间：</a:t>
            </a:r>
            <a:r>
              <a:rPr lang="en-US" altLang="zh-CN" b="1" dirty="0">
                <a:solidFill>
                  <a:srgbClr val="FF0000"/>
                </a:solidFill>
              </a:rPr>
              <a:t>2.5us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940274-BDD9-D876-871B-91057050476A}"/>
              </a:ext>
            </a:extLst>
          </p:cNvPr>
          <p:cNvSpPr txBox="1"/>
          <p:nvPr/>
        </p:nvSpPr>
        <p:spPr>
          <a:xfrm>
            <a:off x="907982" y="2429511"/>
            <a:ext cx="5610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计时方法：打开定时器</a:t>
            </a:r>
            <a:r>
              <a:rPr lang="en-US" altLang="zh-CN" sz="1200" dirty="0"/>
              <a:t>GPT ch1, </a:t>
            </a:r>
            <a:r>
              <a:rPr lang="zh-CN" altLang="en-US" sz="1200" dirty="0"/>
              <a:t>先读一下定时器值，再读一下定时器值，再作差，得到两次读寄存器的延迟时间，记作</a:t>
            </a:r>
            <a:r>
              <a:rPr lang="en-US" altLang="zh-CN" sz="1200" dirty="0" err="1"/>
              <a:t>counter_shift</a:t>
            </a:r>
            <a:endParaRPr lang="en-US" altLang="zh-CN" sz="1200" dirty="0"/>
          </a:p>
          <a:p>
            <a:r>
              <a:rPr lang="zh-CN" altLang="en-US" sz="1200" dirty="0"/>
              <a:t>在开始计算之前读一下定时器计数值，记作</a:t>
            </a:r>
            <a:r>
              <a:rPr lang="en-US" altLang="zh-CN" sz="1200" dirty="0"/>
              <a:t>counter3,</a:t>
            </a:r>
            <a:r>
              <a:rPr lang="zh-CN" altLang="en-US" sz="1200" dirty="0"/>
              <a:t>在结束计算后再读一下定时器计数值，得到</a:t>
            </a:r>
            <a:r>
              <a:rPr lang="en-US" altLang="zh-CN" sz="1200" dirty="0"/>
              <a:t>counter4,</a:t>
            </a:r>
            <a:r>
              <a:rPr lang="zh-CN" altLang="en-US" sz="1200" dirty="0"/>
              <a:t>那么执行计算的时间就是</a:t>
            </a:r>
            <a:r>
              <a:rPr lang="en-US" altLang="zh-CN" sz="1200" dirty="0"/>
              <a:t>counter4-counter3-counter_shift, </a:t>
            </a:r>
            <a:r>
              <a:rPr lang="zh-CN" altLang="en-US" sz="1200" dirty="0"/>
              <a:t>每个时间单位是</a:t>
            </a:r>
            <a:r>
              <a:rPr lang="en-US" altLang="zh-CN" sz="1200" dirty="0"/>
              <a:t>3.33ns(300Mhz GPT),</a:t>
            </a:r>
            <a:r>
              <a:rPr lang="zh-CN" altLang="en-US" sz="1200" dirty="0"/>
              <a:t>得到</a:t>
            </a:r>
            <a:r>
              <a:rPr lang="en-US" altLang="zh-CN" sz="1200" dirty="0" err="1"/>
              <a:t>running_time</a:t>
            </a:r>
            <a:r>
              <a:rPr lang="en-US" altLang="zh-CN" sz="1200" dirty="0"/>
              <a:t> = </a:t>
            </a:r>
            <a:r>
              <a:rPr lang="zh-CN" altLang="en-US" sz="1200" dirty="0"/>
              <a:t>计时器值</a:t>
            </a:r>
            <a:r>
              <a:rPr lang="en-US" altLang="zh-CN" sz="1200" dirty="0"/>
              <a:t>*3.33ns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32305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613AC-A18C-B56B-E161-9075F23E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FAAC-A7EA-A978-5C89-CB4523E7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19" y="349850"/>
            <a:ext cx="9483292" cy="58777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运算代码执行在</a:t>
            </a:r>
            <a:r>
              <a:rPr lang="en-US" altLang="zh-CN" dirty="0" err="1"/>
              <a:t>itcm</a:t>
            </a:r>
            <a:r>
              <a:rPr lang="en-US" altLang="zh-CN" dirty="0"/>
              <a:t>: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AF5683-F9C7-4ABC-19E4-F15510BF02D2}"/>
              </a:ext>
            </a:extLst>
          </p:cNvPr>
          <p:cNvSpPr txBox="1"/>
          <p:nvPr/>
        </p:nvSpPr>
        <p:spPr>
          <a:xfrm>
            <a:off x="533399" y="1553431"/>
            <a:ext cx="4490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验证代码是跑在</a:t>
            </a:r>
            <a:r>
              <a:rPr lang="en-US" altLang="zh-CN" dirty="0" err="1"/>
              <a:t>itcm</a:t>
            </a:r>
            <a:r>
              <a:rPr lang="zh-CN" altLang="en-US" dirty="0"/>
              <a:t>上的：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Map</a:t>
            </a:r>
            <a:r>
              <a:rPr lang="zh-CN" altLang="en-US" dirty="0"/>
              <a:t>文件中，函数地址被分配到了</a:t>
            </a:r>
            <a:r>
              <a:rPr lang="en-US" altLang="zh-CN" dirty="0" err="1"/>
              <a:t>iTCM</a:t>
            </a:r>
            <a:r>
              <a:rPr lang="en-US" altLang="zh-CN" dirty="0"/>
              <a:t> </a:t>
            </a:r>
            <a:r>
              <a:rPr lang="zh-CN" altLang="en-US" dirty="0"/>
              <a:t>区域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执行时候看，执行在</a:t>
            </a:r>
            <a:r>
              <a:rPr lang="en-US" altLang="zh-CN" dirty="0"/>
              <a:t>map</a:t>
            </a:r>
            <a:r>
              <a:rPr lang="zh-CN" altLang="en-US" dirty="0"/>
              <a:t>对应的地址位置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B7B494D-A930-C89D-2B96-0EA0C32F2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243" y="3253692"/>
            <a:ext cx="7632190" cy="34369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F03A27-7E4D-E201-C0EB-C8097E417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161" y="167350"/>
            <a:ext cx="6068272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80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06440-AD95-16B0-497D-CE0FB9A6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4C1A-63BE-135A-5DEB-3C1B0AC40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82" y="451754"/>
            <a:ext cx="9483292" cy="58777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运算代码执行在</a:t>
            </a:r>
            <a:r>
              <a:rPr lang="en-US" altLang="zh-CN" dirty="0" err="1"/>
              <a:t>sram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0F1A24-DB1F-A5A7-D53B-595AA254ADF3}"/>
              </a:ext>
            </a:extLst>
          </p:cNvPr>
          <p:cNvSpPr txBox="1"/>
          <p:nvPr/>
        </p:nvSpPr>
        <p:spPr>
          <a:xfrm>
            <a:off x="988994" y="952183"/>
            <a:ext cx="94832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#pragma </a:t>
            </a:r>
            <a:r>
              <a:rPr lang="en-US" dirty="0" err="1"/>
              <a:t>default_function_attributes</a:t>
            </a:r>
            <a:r>
              <a:rPr lang="en-US" dirty="0"/>
              <a:t> = @ ".</a:t>
            </a:r>
            <a:r>
              <a:rPr lang="en-US" dirty="0" err="1"/>
              <a:t>ram_code_from_flash</a:t>
            </a:r>
            <a:r>
              <a:rPr lang="en-US" dirty="0"/>
              <a:t>“</a:t>
            </a:r>
          </a:p>
          <a:p>
            <a:r>
              <a:rPr lang="en-US" dirty="0"/>
              <a:t>Func1();</a:t>
            </a:r>
          </a:p>
          <a:p>
            <a:r>
              <a:rPr lang="en-US" dirty="0"/>
              <a:t>Func2();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#pragma </a:t>
            </a:r>
            <a:r>
              <a:rPr lang="en-US" dirty="0" err="1"/>
              <a:t>default_function_attributes</a:t>
            </a:r>
            <a:r>
              <a:rPr lang="en-US" dirty="0"/>
              <a:t> =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6CCAC-67C2-1EF6-BA55-03838FAB3DC5}"/>
              </a:ext>
            </a:extLst>
          </p:cNvPr>
          <p:cNvSpPr txBox="1"/>
          <p:nvPr/>
        </p:nvSpPr>
        <p:spPr>
          <a:xfrm>
            <a:off x="907982" y="2875359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执行时间：</a:t>
            </a:r>
            <a:r>
              <a:rPr lang="en-US" altLang="zh-CN" dirty="0"/>
              <a:t>2.75us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A87886-BF54-B81A-C65B-E0E5D5A25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761" y="1349447"/>
            <a:ext cx="5982336" cy="2160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2B1858-1551-10C5-78A2-FFD215A85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817" y="1925061"/>
            <a:ext cx="5907280" cy="22699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BD1AC0-C583-57EC-F4EB-09F52A057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587" y="3983233"/>
            <a:ext cx="8033887" cy="27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0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C6B1-6239-52A1-A913-81845E201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9128-FB33-7F1C-0EC2-DCC7FDDD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82" y="451754"/>
            <a:ext cx="9483292" cy="58777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运算代码执行在</a:t>
            </a:r>
            <a:r>
              <a:rPr lang="en-US" altLang="zh-CN" dirty="0"/>
              <a:t>MRAM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111205-E29A-886D-BEB9-73DDED92A593}"/>
              </a:ext>
            </a:extLst>
          </p:cNvPr>
          <p:cNvSpPr txBox="1"/>
          <p:nvPr/>
        </p:nvSpPr>
        <p:spPr>
          <a:xfrm>
            <a:off x="988994" y="952183"/>
            <a:ext cx="94832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注释掉相关宏定义即可，即默认</a:t>
            </a:r>
            <a:endParaRPr lang="en-US" dirty="0"/>
          </a:p>
          <a:p>
            <a:r>
              <a:rPr lang="en-US" dirty="0"/>
              <a:t>Func1();</a:t>
            </a:r>
          </a:p>
          <a:p>
            <a:r>
              <a:rPr lang="en-US" dirty="0"/>
              <a:t>Func2();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zh-CN" altLang="en-US" dirty="0"/>
              <a:t>执行时间</a:t>
            </a:r>
            <a:r>
              <a:rPr lang="en-US" altLang="zh-CN" dirty="0"/>
              <a:t>2.766us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E0522-B2EA-31A9-F1CF-1049F9374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40563"/>
            <a:ext cx="10658374" cy="356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08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8B8AD-9BA6-15FC-6956-8E36A640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641A-46CF-40FA-0209-2907959C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66" y="847023"/>
            <a:ext cx="10827618" cy="1482291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为何在</a:t>
            </a:r>
            <a:r>
              <a:rPr lang="en-US" altLang="zh-CN" sz="2800" b="1" dirty="0" err="1"/>
              <a:t>itcm</a:t>
            </a:r>
            <a:r>
              <a:rPr lang="en-US" altLang="zh-CN" sz="2800" b="1" dirty="0"/>
              <a:t>/</a:t>
            </a:r>
            <a:r>
              <a:rPr lang="en-US" altLang="zh-CN" sz="2800" b="1" dirty="0" err="1"/>
              <a:t>sram</a:t>
            </a:r>
            <a:r>
              <a:rPr lang="en-US" altLang="zh-CN" sz="2800" b="1" dirty="0"/>
              <a:t>/</a:t>
            </a:r>
            <a:r>
              <a:rPr lang="en-US" altLang="zh-CN" sz="2800" b="1" dirty="0" err="1"/>
              <a:t>mram</a:t>
            </a:r>
            <a:r>
              <a:rPr lang="zh-CN" altLang="en-US" sz="2800" b="1" dirty="0"/>
              <a:t>执行速度没有很大区别：因为主要是三角函数耗时较长，三角函数执行被编译器限制到了</a:t>
            </a:r>
            <a:r>
              <a:rPr lang="en-US" altLang="zh-CN" sz="2800" b="1" dirty="0"/>
              <a:t>MRAM</a:t>
            </a:r>
            <a:r>
              <a:rPr lang="zh-CN" altLang="en-US" sz="2800" b="1" dirty="0"/>
              <a:t>里，如下图可以看到：</a:t>
            </a:r>
            <a:endParaRPr lang="en-US" sz="2800" b="1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9CF076A-2F1E-15D8-4B53-AA2A992FA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586" y="2228656"/>
            <a:ext cx="9781821" cy="24010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CE24DE-5CC4-0F33-0249-DF6977363842}"/>
              </a:ext>
            </a:extLst>
          </p:cNvPr>
          <p:cNvSpPr txBox="1"/>
          <p:nvPr/>
        </p:nvSpPr>
        <p:spPr>
          <a:xfrm>
            <a:off x="584586" y="4937760"/>
            <a:ext cx="1082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若代码中没有</a:t>
            </a:r>
            <a:r>
              <a:rPr lang="en-US" altLang="zh-CN" dirty="0"/>
              <a:t>math</a:t>
            </a:r>
            <a:r>
              <a:rPr lang="zh-CN" altLang="en-US" dirty="0"/>
              <a:t>库函数，则执行在</a:t>
            </a:r>
            <a:r>
              <a:rPr lang="en-US" altLang="zh-CN" dirty="0" err="1"/>
              <a:t>itcm</a:t>
            </a:r>
            <a:r>
              <a:rPr lang="zh-CN" altLang="en-US" dirty="0"/>
              <a:t>的速度将会明显比</a:t>
            </a:r>
            <a:r>
              <a:rPr lang="en-US" altLang="zh-CN" dirty="0" err="1"/>
              <a:t>sram</a:t>
            </a:r>
            <a:r>
              <a:rPr lang="en-US" altLang="zh-CN" dirty="0"/>
              <a:t>/</a:t>
            </a:r>
            <a:r>
              <a:rPr lang="en-US" altLang="zh-CN" dirty="0" err="1"/>
              <a:t>mram</a:t>
            </a:r>
            <a:r>
              <a:rPr lang="zh-CN" altLang="en-US" dirty="0"/>
              <a:t>高很多，可以把关键代码放</a:t>
            </a:r>
            <a:r>
              <a:rPr lang="en-US" altLang="zh-CN" dirty="0" err="1"/>
              <a:t>itcm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03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F09B-090E-DED6-C455-CCAFEF738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F5F2-41FF-1EB3-D7EE-739B41AE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66" y="847023"/>
            <a:ext cx="10827618" cy="1482291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使用</a:t>
            </a:r>
            <a:r>
              <a:rPr lang="en-US" altLang="zh-CN" sz="2800" b="1" dirty="0"/>
              <a:t>CMSIS-DSP</a:t>
            </a:r>
            <a:r>
              <a:rPr lang="zh-CN" altLang="en-US" sz="2800" b="1" dirty="0"/>
              <a:t>库加速：</a:t>
            </a:r>
            <a:endParaRPr lang="en-US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899C5-B11B-A26D-FA0E-61A1A8553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17026" cy="2775872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altLang="zh-CN" dirty="0"/>
              <a:t>FSP</a:t>
            </a:r>
            <a:r>
              <a:rPr lang="zh-CN" altLang="en-US" dirty="0"/>
              <a:t>加入</a:t>
            </a:r>
            <a:r>
              <a:rPr lang="en-US" altLang="zh-CN" dirty="0"/>
              <a:t>DSP</a:t>
            </a:r>
            <a:r>
              <a:rPr lang="zh-CN" altLang="en-US" dirty="0"/>
              <a:t>库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替换</a:t>
            </a:r>
            <a:r>
              <a:rPr lang="en-US" altLang="zh-CN" dirty="0" err="1"/>
              <a:t>math.h</a:t>
            </a:r>
            <a:r>
              <a:rPr lang="zh-CN" altLang="en-US" dirty="0"/>
              <a:t>里相关函数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检测执行时间，在</a:t>
            </a:r>
            <a:r>
              <a:rPr lang="en-US" altLang="zh-CN" dirty="0" err="1"/>
              <a:t>mram</a:t>
            </a:r>
            <a:r>
              <a:rPr lang="zh-CN" altLang="en-US" dirty="0"/>
              <a:t>中执行，时间缩短到原来的一半以内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4E36C-7BB1-3B6D-2E46-A1D529B8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020" y="681037"/>
            <a:ext cx="6271914" cy="2504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DA4581-04A1-B36E-9594-756C3C639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578" y="3295298"/>
            <a:ext cx="5534797" cy="924054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1580E0-A479-3FDC-E148-05C95FB15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0165"/>
            <a:ext cx="11867535" cy="251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3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222AC-7056-5757-5C53-E8EF710D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911D-F0ED-AA72-05B7-A4A5C43D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</a:t>
            </a:r>
            <a:r>
              <a:rPr lang="zh-CN" altLang="en-US" dirty="0"/>
              <a:t>外设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95B28-B39B-7DDE-8DCB-65EBD139E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50"/>
            <a:ext cx="4695825" cy="4786313"/>
          </a:xfrm>
        </p:spPr>
        <p:txBody>
          <a:bodyPr/>
          <a:lstStyle/>
          <a:p>
            <a:r>
              <a:rPr lang="zh-CN" altLang="en-US" dirty="0"/>
              <a:t>触发逻辑：</a:t>
            </a:r>
            <a:endParaRPr lang="en-US" altLang="zh-CN" dirty="0"/>
          </a:p>
          <a:p>
            <a:r>
              <a:rPr lang="zh-CN" altLang="en-US" b="1" dirty="0"/>
              <a:t>使用</a:t>
            </a:r>
            <a:r>
              <a:rPr lang="en-US" altLang="zh-CN" b="1" dirty="0"/>
              <a:t>GPT</a:t>
            </a:r>
            <a:r>
              <a:rPr lang="zh-CN" altLang="en-US" b="1" dirty="0"/>
              <a:t>发波单元的一个通道的比较器触发，该比较器是专门做</a:t>
            </a:r>
            <a:r>
              <a:rPr lang="en-US" altLang="zh-CN" b="1" dirty="0"/>
              <a:t>ADC</a:t>
            </a:r>
            <a:r>
              <a:rPr lang="zh-CN" altLang="en-US" b="1" dirty="0"/>
              <a:t>触发使用的，将需要采样触发的时间写入比较器即可</a:t>
            </a:r>
            <a:endParaRPr lang="en-US" altLang="zh-CN" b="1" dirty="0"/>
          </a:p>
          <a:p>
            <a:r>
              <a:rPr lang="en-US" altLang="zh-CN" b="1" dirty="0"/>
              <a:t>ADC</a:t>
            </a:r>
            <a:r>
              <a:rPr lang="zh-CN" altLang="en-US" b="1" dirty="0"/>
              <a:t>配置</a:t>
            </a:r>
            <a:r>
              <a:rPr lang="en-US" altLang="zh-CN" b="1" dirty="0"/>
              <a:t>Unit 0 </a:t>
            </a:r>
            <a:r>
              <a:rPr lang="zh-CN" altLang="en-US" b="1" dirty="0"/>
              <a:t>的</a:t>
            </a:r>
            <a:r>
              <a:rPr lang="en-US" altLang="zh-CN" b="1" dirty="0"/>
              <a:t>ch0 1 2</a:t>
            </a:r>
            <a:r>
              <a:rPr lang="zh-CN" altLang="en-US" b="1" dirty="0"/>
              <a:t>，从启动触发到进入中断拿数据的耗时为</a:t>
            </a:r>
            <a:r>
              <a:rPr lang="en-US" altLang="zh-CN" b="1" dirty="0"/>
              <a:t>1.4us</a:t>
            </a:r>
            <a:r>
              <a:rPr lang="zh-CN" altLang="en-US" b="1" dirty="0"/>
              <a:t>左右。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A3F24-942D-914A-4596-6C89DB1C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788" y="365125"/>
            <a:ext cx="5383729" cy="3721812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AE30B4-1494-D6EB-7482-6A5FD55B7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788" y="4166567"/>
            <a:ext cx="5383729" cy="255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35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98952-31A3-F5DF-10C8-1B01CAA4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0968-0F9D-8408-D8DF-16DCC3189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串口自动读取编码器：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C7CAA-FA04-5AF0-00CA-71E9FF10A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51"/>
            <a:ext cx="11210926" cy="1325563"/>
          </a:xfrm>
        </p:spPr>
        <p:txBody>
          <a:bodyPr>
            <a:norm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触发逻辑：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r>
              <a:rPr lang="zh-CN" altLang="en-US" sz="1200" b="1" dirty="0"/>
              <a:t>使用</a:t>
            </a:r>
            <a:r>
              <a:rPr lang="en-US" altLang="zh-CN" sz="1200" b="1" dirty="0"/>
              <a:t>GPT</a:t>
            </a:r>
            <a:r>
              <a:rPr lang="zh-CN" altLang="en-US" sz="1200" b="1" dirty="0"/>
              <a:t>通道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比较匹配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进行触发，在比较匹配值里设定需要触发的位置，并在代码中同时启动</a:t>
            </a:r>
            <a:r>
              <a:rPr lang="en-US" altLang="zh-CN" sz="1200" b="1" dirty="0"/>
              <a:t>GPT</a:t>
            </a:r>
            <a:r>
              <a:rPr lang="zh-CN" altLang="en-US" sz="1200" b="1" dirty="0"/>
              <a:t>和三相发波单元，保证两者是完全同步的。</a:t>
            </a:r>
            <a:r>
              <a:rPr lang="en-US" altLang="zh-CN" sz="1200" b="1" dirty="0"/>
              <a:t>GPT ch3</a:t>
            </a:r>
            <a:r>
              <a:rPr lang="zh-CN" altLang="en-US" sz="1200" b="1" dirty="0"/>
              <a:t>也设定为与载频相同的周期。注意触发序列为：</a:t>
            </a:r>
            <a:endParaRPr lang="en-US" altLang="zh-CN" sz="1200" b="1" dirty="0"/>
          </a:p>
          <a:p>
            <a:r>
              <a:rPr lang="en-US" altLang="zh-CN" sz="1200" b="1" dirty="0"/>
              <a:t>GPT ch3 </a:t>
            </a:r>
            <a:r>
              <a:rPr lang="en-US" altLang="zh-CN" sz="1200" b="1" dirty="0">
                <a:sym typeface="Wingdings" panose="05000000000000000000" pitchFamily="2" charset="2"/>
              </a:rPr>
              <a:t> DMA ch0  UART TDR</a:t>
            </a:r>
            <a:r>
              <a:rPr lang="zh-CN" altLang="en-US" sz="1200" b="1" dirty="0">
                <a:sym typeface="Wingdings" panose="05000000000000000000" pitchFamily="2" charset="2"/>
              </a:rPr>
              <a:t>自动发送</a:t>
            </a:r>
            <a:r>
              <a:rPr lang="en-US" altLang="zh-CN" sz="1200" b="1" dirty="0">
                <a:sym typeface="Wingdings" panose="05000000000000000000" pitchFamily="2" charset="2"/>
              </a:rPr>
              <a:t>0x73</a:t>
            </a:r>
            <a:r>
              <a:rPr lang="zh-CN" altLang="en-US" sz="1200" b="1" dirty="0">
                <a:sym typeface="Wingdings" panose="05000000000000000000" pitchFamily="2" charset="2"/>
              </a:rPr>
              <a:t>到编码器</a:t>
            </a:r>
            <a:endParaRPr lang="en-US" altLang="zh-CN" sz="1200" b="1" dirty="0">
              <a:sym typeface="Wingdings" panose="05000000000000000000" pitchFamily="2" charset="2"/>
            </a:endParaRPr>
          </a:p>
          <a:p>
            <a:r>
              <a:rPr lang="en-US" altLang="zh-CN" sz="1200" b="1" dirty="0">
                <a:sym typeface="Wingdings" panose="05000000000000000000" pitchFamily="2" charset="2"/>
              </a:rPr>
              <a:t>UART RDR  DMA ch2  </a:t>
            </a:r>
            <a:r>
              <a:rPr lang="en-US" altLang="zh-CN" sz="1200" b="1" dirty="0" err="1">
                <a:sym typeface="Wingdings" panose="05000000000000000000" pitchFamily="2" charset="2"/>
              </a:rPr>
              <a:t>g_recBuf</a:t>
            </a:r>
            <a:r>
              <a:rPr lang="zh-CN" altLang="en-US" sz="1200" b="1" dirty="0">
                <a:sym typeface="Wingdings" panose="05000000000000000000" pitchFamily="2" charset="2"/>
              </a:rPr>
              <a:t>自动读取到位置信息</a:t>
            </a:r>
            <a:endParaRPr lang="en-US" altLang="zh-CN" sz="1200" b="1" dirty="0">
              <a:sym typeface="Wingdings" panose="05000000000000000000" pitchFamily="2" charset="2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D92714-D59F-ECF9-FF6B-5ADE13D0D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35" y="4367313"/>
            <a:ext cx="8410138" cy="21255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938958-B8AA-E738-1AD8-3B8E972F8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35" y="2633136"/>
            <a:ext cx="6418242" cy="17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3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B4742-3389-8287-B155-CB3BE0CB4F4C}"/>
              </a:ext>
            </a:extLst>
          </p:cNvPr>
          <p:cNvSpPr txBox="1"/>
          <p:nvPr/>
        </p:nvSpPr>
        <p:spPr>
          <a:xfrm>
            <a:off x="667512" y="539496"/>
            <a:ext cx="53022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设置三个变量，观测</a:t>
            </a:r>
            <a:r>
              <a:rPr lang="en-US" altLang="zh-CN" dirty="0"/>
              <a:t>PWM, ADC, </a:t>
            </a:r>
            <a:r>
              <a:rPr lang="zh-CN" altLang="en-US" dirty="0"/>
              <a:t>编码器是否同步：</a:t>
            </a:r>
            <a:endParaRPr lang="en-US" altLang="zh-CN" dirty="0"/>
          </a:p>
          <a:p>
            <a:r>
              <a:rPr lang="fr-FR" dirty="0"/>
              <a:t>volatile uint32_t </a:t>
            </a:r>
            <a:r>
              <a:rPr lang="fr-FR" dirty="0" err="1"/>
              <a:t>adc_cnt</a:t>
            </a:r>
            <a:r>
              <a:rPr lang="fr-FR" dirty="0"/>
              <a:t> = 0;</a:t>
            </a:r>
          </a:p>
          <a:p>
            <a:r>
              <a:rPr lang="fr-FR" dirty="0"/>
              <a:t>volatile uint32_t </a:t>
            </a:r>
            <a:r>
              <a:rPr lang="fr-FR" dirty="0" err="1"/>
              <a:t>comppwm_cnt</a:t>
            </a:r>
            <a:r>
              <a:rPr lang="fr-FR" dirty="0"/>
              <a:t> = 0 ;</a:t>
            </a:r>
          </a:p>
          <a:p>
            <a:r>
              <a:rPr lang="fr-FR" dirty="0"/>
              <a:t>volatile uint32_t </a:t>
            </a:r>
            <a:r>
              <a:rPr lang="fr-FR" dirty="0" err="1"/>
              <a:t>encoder_cnt</a:t>
            </a:r>
            <a:r>
              <a:rPr lang="fr-FR" dirty="0"/>
              <a:t> = 0;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501E3-99B4-DBAE-4116-22997DD95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739825"/>
            <a:ext cx="11313490" cy="309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98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55A1A-53A3-03BC-FB0C-F2062EB8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A44628-36A8-1189-7D02-635C129576F0}"/>
              </a:ext>
            </a:extLst>
          </p:cNvPr>
          <p:cNvSpPr txBox="1"/>
          <p:nvPr/>
        </p:nvSpPr>
        <p:spPr>
          <a:xfrm>
            <a:off x="667512" y="713232"/>
            <a:ext cx="651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AD</a:t>
            </a:r>
            <a:r>
              <a:rPr lang="zh-CN" altLang="en-US" dirty="0"/>
              <a:t>触发位置： 减计数的</a:t>
            </a:r>
            <a:r>
              <a:rPr lang="en-US" altLang="zh-CN" dirty="0"/>
              <a:t>5</a:t>
            </a:r>
            <a:r>
              <a:rPr lang="zh-CN" altLang="en-US" dirty="0"/>
              <a:t>，即到达波谷前 </a:t>
            </a:r>
            <a:r>
              <a:rPr lang="en-US" altLang="zh-CN" dirty="0"/>
              <a:t>5 * 0.333us = 1.6us</a:t>
            </a:r>
            <a:r>
              <a:rPr lang="zh-CN" altLang="en-US" dirty="0"/>
              <a:t>处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4C2D5-E8E2-D053-C012-0A3EF40EB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99" y="1082565"/>
            <a:ext cx="6581525" cy="1465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0D97B3-6A7D-AB2B-C3E4-7BDB784791F9}"/>
              </a:ext>
            </a:extLst>
          </p:cNvPr>
          <p:cNvSpPr txBox="1"/>
          <p:nvPr/>
        </p:nvSpPr>
        <p:spPr>
          <a:xfrm>
            <a:off x="518317" y="2729805"/>
            <a:ext cx="6810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编码器读取触发位置： 比较匹配值</a:t>
            </a:r>
            <a:r>
              <a:rPr lang="en-US" altLang="zh-CN" dirty="0"/>
              <a:t>14987</a:t>
            </a:r>
            <a:r>
              <a:rPr lang="zh-CN" altLang="en-US" dirty="0"/>
              <a:t>，即到达波谷前 </a:t>
            </a:r>
            <a:r>
              <a:rPr lang="en-US" altLang="zh-CN" dirty="0"/>
              <a:t>13 * 0.333us = 4us</a:t>
            </a:r>
            <a:r>
              <a:rPr lang="zh-CN" altLang="en-US" dirty="0"/>
              <a:t>处</a:t>
            </a:r>
            <a:r>
              <a:rPr lang="en-US" altLang="zh-CN" dirty="0"/>
              <a:t>.</a:t>
            </a:r>
            <a:r>
              <a:rPr lang="zh-CN" altLang="en-US" dirty="0"/>
              <a:t>此处是提前</a:t>
            </a:r>
            <a:r>
              <a:rPr lang="en-US" altLang="zh-CN" dirty="0"/>
              <a:t>4us</a:t>
            </a:r>
            <a:r>
              <a:rPr lang="zh-CN" altLang="en-US" dirty="0"/>
              <a:t>发送</a:t>
            </a:r>
            <a:r>
              <a:rPr lang="en-US" altLang="zh-CN" dirty="0"/>
              <a:t>0x73</a:t>
            </a:r>
            <a:r>
              <a:rPr lang="zh-CN" altLang="en-US" dirty="0"/>
              <a:t>读取波谷时刻的位置信息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4DE66-792C-D526-6D54-4A9B4DC30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99" y="3376136"/>
            <a:ext cx="6098290" cy="15580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25F1C2-C813-8FBC-815C-AD8A68179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231" y="3480293"/>
            <a:ext cx="4475251" cy="250221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584445-273F-12F0-0A52-AE57D1491CED}"/>
              </a:ext>
            </a:extLst>
          </p:cNvPr>
          <p:cNvCxnSpPr/>
          <p:nvPr/>
        </p:nvCxnSpPr>
        <p:spPr>
          <a:xfrm flipH="1">
            <a:off x="6345936" y="3776472"/>
            <a:ext cx="2459736" cy="292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C09307-AB55-6EC4-42CC-7557416D503E}"/>
              </a:ext>
            </a:extLst>
          </p:cNvPr>
          <p:cNvCxnSpPr/>
          <p:nvPr/>
        </p:nvCxnSpPr>
        <p:spPr>
          <a:xfrm flipH="1" flipV="1">
            <a:off x="4882896" y="2276856"/>
            <a:ext cx="4005072" cy="2798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7D775B9-1300-9E68-B73B-1FF46C018D6B}"/>
              </a:ext>
            </a:extLst>
          </p:cNvPr>
          <p:cNvCxnSpPr>
            <a:cxnSpLocks/>
          </p:cNvCxnSpPr>
          <p:nvPr/>
        </p:nvCxnSpPr>
        <p:spPr>
          <a:xfrm flipH="1" flipV="1">
            <a:off x="4800600" y="1892808"/>
            <a:ext cx="4087368" cy="3182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179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50E8-0518-AADE-808F-75ACB643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1CCB-2A13-BBD2-6EB5-82861A1E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IPC</a:t>
            </a:r>
            <a:r>
              <a:rPr lang="zh-CN" altLang="en-US" dirty="0"/>
              <a:t>双核数据交互：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18666-EAC1-EEDD-ADCA-3CEB2F1DE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251"/>
            <a:ext cx="11210926" cy="1325563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触发逻辑：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r>
              <a:rPr lang="zh-CN" altLang="en-US" sz="1200" b="1" dirty="0"/>
              <a:t>双核均初始化</a:t>
            </a:r>
            <a:r>
              <a:rPr lang="en-US" altLang="zh-CN" sz="1200" b="1" dirty="0"/>
              <a:t>IPC</a:t>
            </a:r>
            <a:r>
              <a:rPr lang="zh-CN" altLang="en-US" sz="1200" b="1" dirty="0"/>
              <a:t>模块，一个是收，一个是发   </a:t>
            </a:r>
            <a:endParaRPr lang="en-US" altLang="zh-CN" sz="1200" b="1" dirty="0"/>
          </a:p>
          <a:p>
            <a:r>
              <a:rPr lang="zh-CN" altLang="en-US" sz="1200" b="1" dirty="0">
                <a:sym typeface="Wingdings" panose="05000000000000000000" pitchFamily="2" charset="2"/>
              </a:rPr>
              <a:t>初始化</a:t>
            </a:r>
            <a:r>
              <a:rPr lang="en-US" altLang="zh-CN" sz="1200" b="1" dirty="0">
                <a:sym typeface="Wingdings" panose="05000000000000000000" pitchFamily="2" charset="2"/>
              </a:rPr>
              <a:t>IPC</a:t>
            </a:r>
            <a:r>
              <a:rPr lang="zh-CN" altLang="en-US" sz="1200" b="1" dirty="0">
                <a:sym typeface="Wingdings" panose="05000000000000000000" pitchFamily="2" charset="2"/>
              </a:rPr>
              <a:t>模块，加入测试代码</a:t>
            </a:r>
            <a:endParaRPr lang="en-US" altLang="zh-CN" sz="12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sz="1200" b="1" dirty="0" err="1">
                <a:sym typeface="Wingdings" panose="05000000000000000000" pitchFamily="2" charset="2"/>
              </a:rPr>
              <a:t>R_IPC_Open</a:t>
            </a:r>
            <a:r>
              <a:rPr lang="en-US" altLang="zh-CN" sz="1200" b="1" dirty="0">
                <a:sym typeface="Wingdings" panose="05000000000000000000" pitchFamily="2" charset="2"/>
              </a:rPr>
              <a:t>(&amp;g_ipc0_ctrl, &amp;g_ipc0_cfg);//0: receive data from core 0</a:t>
            </a:r>
          </a:p>
          <a:p>
            <a:pPr marL="0" indent="0">
              <a:buNone/>
            </a:pPr>
            <a:r>
              <a:rPr lang="en-US" altLang="zh-CN" sz="1200" b="1" dirty="0">
                <a:sym typeface="Wingdings" panose="05000000000000000000" pitchFamily="2" charset="2"/>
              </a:rPr>
              <a:t> </a:t>
            </a:r>
            <a:r>
              <a:rPr lang="en-US" altLang="zh-CN" sz="1200" b="1" dirty="0" err="1">
                <a:sym typeface="Wingdings" panose="05000000000000000000" pitchFamily="2" charset="2"/>
              </a:rPr>
              <a:t>R_IPC_Open</a:t>
            </a:r>
            <a:r>
              <a:rPr lang="en-US" altLang="zh-CN" sz="1200" b="1" dirty="0">
                <a:sym typeface="Wingdings" panose="05000000000000000000" pitchFamily="2" charset="2"/>
              </a:rPr>
              <a:t>(&amp;g_ipc1_ctrl, &amp;g_ipc1_cfg);//1: send data </a:t>
            </a:r>
            <a:r>
              <a:rPr lang="en-US" altLang="zh-CN" sz="1200" b="1" dirty="0" err="1">
                <a:sym typeface="Wingdings" panose="05000000000000000000" pitchFamily="2" charset="2"/>
              </a:rPr>
              <a:t>yo</a:t>
            </a:r>
            <a:r>
              <a:rPr lang="en-US" altLang="zh-CN" sz="1200" b="1" dirty="0">
                <a:sym typeface="Wingdings" panose="05000000000000000000" pitchFamily="2" charset="2"/>
              </a:rPr>
              <a:t> core 0</a:t>
            </a:r>
          </a:p>
          <a:p>
            <a:pPr marL="0" indent="0">
              <a:buNone/>
            </a:pPr>
            <a:r>
              <a:rPr lang="en-US" altLang="zh-CN" sz="1200" b="1" dirty="0" err="1">
                <a:sym typeface="Wingdings" panose="05000000000000000000" pitchFamily="2" charset="2"/>
              </a:rPr>
              <a:t>R_IPC_MessageSend</a:t>
            </a:r>
            <a:r>
              <a:rPr lang="en-US" altLang="zh-CN" sz="1200" b="1" dirty="0">
                <a:sym typeface="Wingdings" panose="05000000000000000000" pitchFamily="2" charset="2"/>
              </a:rPr>
              <a:t>(&amp;g_ipc0_ctrl, </a:t>
            </a:r>
            <a:r>
              <a:rPr lang="en-US" altLang="zh-CN" sz="1200" b="1" dirty="0" err="1">
                <a:sym typeface="Wingdings" panose="05000000000000000000" pitchFamily="2" charset="2"/>
              </a:rPr>
              <a:t>g_last_message_send</a:t>
            </a:r>
            <a:r>
              <a:rPr lang="en-US" altLang="zh-CN" sz="1200" b="1" dirty="0">
                <a:sym typeface="Wingdings" panose="05000000000000000000" pitchFamily="2" charset="2"/>
              </a:rPr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4E685-A91B-6F8F-961E-D14ADAA0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3564762"/>
            <a:ext cx="4219575" cy="2903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BCC09-9CF0-CF20-4944-FB8FE04C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09" y="3429000"/>
            <a:ext cx="4572638" cy="3038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D6C8F5-DCCA-F763-F0E7-4FFC6F234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425" y="1421091"/>
            <a:ext cx="6572250" cy="172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17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5AABA6-8D69-A46B-0AA1-530937214B33}"/>
              </a:ext>
            </a:extLst>
          </p:cNvPr>
          <p:cNvSpPr txBox="1"/>
          <p:nvPr/>
        </p:nvSpPr>
        <p:spPr>
          <a:xfrm>
            <a:off x="274971" y="411480"/>
            <a:ext cx="30216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双核调试：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新建</a:t>
            </a:r>
            <a:r>
              <a:rPr lang="en-US" dirty="0"/>
              <a:t>workspace</a:t>
            </a:r>
            <a:r>
              <a:rPr lang="zh-CN" altLang="en-US" dirty="0"/>
              <a:t>，创建新的工程</a:t>
            </a:r>
            <a:endParaRPr lang="en-US" altLang="zh-CN" dirty="0"/>
          </a:p>
          <a:p>
            <a:pPr marL="342900" indent="-342900">
              <a:buFontTx/>
              <a:buAutoNum type="arabicPeriod"/>
            </a:pPr>
            <a:r>
              <a:rPr lang="zh-CN" altLang="en-US" dirty="0"/>
              <a:t>创建新的工程</a:t>
            </a:r>
            <a:endParaRPr lang="en-US" altLang="zh-CN" dirty="0"/>
          </a:p>
          <a:p>
            <a:pPr marL="342900" indent="-342900">
              <a:buFontTx/>
              <a:buAutoNum type="arabicPeriod"/>
            </a:pPr>
            <a:r>
              <a:rPr lang="zh-CN" altLang="en-US" dirty="0"/>
              <a:t>工程命名为</a:t>
            </a:r>
            <a:r>
              <a:rPr lang="en-US" dirty="0"/>
              <a:t>CPU1_debug</a:t>
            </a:r>
            <a:br>
              <a:rPr lang="en-US" dirty="0"/>
            </a:br>
            <a:r>
              <a:rPr lang="zh-CN" altLang="en-US" dirty="0"/>
              <a:t>添加</a:t>
            </a:r>
            <a:r>
              <a:rPr lang="en-US" dirty="0"/>
              <a:t>CPU1</a:t>
            </a:r>
            <a:r>
              <a:rPr lang="zh-CN" altLang="en-US" dirty="0"/>
              <a:t>工程编译后</a:t>
            </a:r>
            <a:r>
              <a:rPr lang="en-US" dirty="0"/>
              <a:t>out</a:t>
            </a:r>
            <a:r>
              <a:rPr lang="zh-CN" altLang="en-US" dirty="0"/>
              <a:t>文件</a:t>
            </a:r>
            <a:endParaRPr lang="en-US" altLang="zh-CN" dirty="0"/>
          </a:p>
          <a:p>
            <a:pPr marL="342900" indent="-342900">
              <a:buFontTx/>
              <a:buAutoNum type="arabicPeriod"/>
            </a:pPr>
            <a:r>
              <a:rPr lang="zh-CN" altLang="en-US" dirty="0"/>
              <a:t>配置选择</a:t>
            </a:r>
            <a:r>
              <a:rPr lang="en-US" dirty="0"/>
              <a:t>device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9E0465-5F29-550A-50D4-120260152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234" y="411480"/>
            <a:ext cx="4160482" cy="237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33FD6E-92EF-1ECD-7556-E22392D89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013" y="373654"/>
            <a:ext cx="2421149" cy="237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project&#10;&#10;AI-generated content may be incorrect.">
            <a:extLst>
              <a:ext uri="{FF2B5EF4-FFF2-40B4-BE49-F238E27FC236}">
                <a16:creationId xmlns:a16="http://schemas.microsoft.com/office/drawing/2014/main" id="{E7F1FA90-93E6-90E4-A9CA-6AF6621B7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107" y="0"/>
            <a:ext cx="2379879" cy="2896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48CB20-CB27-FF12-5A7F-F1FA51577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352" y="3006321"/>
            <a:ext cx="4336976" cy="362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F16E12-4579-3A00-454E-621FB8B0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666" y="3006321"/>
            <a:ext cx="4433320" cy="3539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3F1584-F942-5ADE-B1DF-EECD2C0029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249" y="7315200"/>
            <a:ext cx="3008907" cy="481972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DE3D796-CB62-9516-C490-10D8D21F3732}"/>
              </a:ext>
            </a:extLst>
          </p:cNvPr>
          <p:cNvSpPr/>
          <p:nvPr/>
        </p:nvSpPr>
        <p:spPr>
          <a:xfrm>
            <a:off x="5524106" y="1448221"/>
            <a:ext cx="735291" cy="3617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1-1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D175D4-7454-A7D8-EEC0-4DFB9ABF3102}"/>
              </a:ext>
            </a:extLst>
          </p:cNvPr>
          <p:cNvSpPr/>
          <p:nvPr/>
        </p:nvSpPr>
        <p:spPr>
          <a:xfrm>
            <a:off x="7845715" y="1640264"/>
            <a:ext cx="883505" cy="3582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1-2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A25E7E-FF71-C6B6-A50F-4F9E375B47F7}"/>
              </a:ext>
            </a:extLst>
          </p:cNvPr>
          <p:cNvSpPr/>
          <p:nvPr/>
        </p:nvSpPr>
        <p:spPr>
          <a:xfrm>
            <a:off x="10539167" y="1074656"/>
            <a:ext cx="372328" cy="373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EF35F2-F333-0C0B-2EB5-B55576162CB3}"/>
              </a:ext>
            </a:extLst>
          </p:cNvPr>
          <p:cNvSpPr/>
          <p:nvPr/>
        </p:nvSpPr>
        <p:spPr>
          <a:xfrm>
            <a:off x="5099901" y="5231876"/>
            <a:ext cx="311085" cy="2733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DAAE45-685F-3D1B-3A0D-7EAB2D6714E9}"/>
              </a:ext>
            </a:extLst>
          </p:cNvPr>
          <p:cNvSpPr/>
          <p:nvPr/>
        </p:nvSpPr>
        <p:spPr>
          <a:xfrm>
            <a:off x="8455843" y="4298623"/>
            <a:ext cx="400264" cy="34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5091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31822-1863-F16B-B754-C6A2BCC89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FF3971-249B-8BE1-BC5F-7DA39AB9448A}"/>
              </a:ext>
            </a:extLst>
          </p:cNvPr>
          <p:cNvSpPr txBox="1"/>
          <p:nvPr/>
        </p:nvSpPr>
        <p:spPr>
          <a:xfrm>
            <a:off x="274971" y="411480"/>
            <a:ext cx="30216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配置选择</a:t>
            </a:r>
            <a:r>
              <a:rPr lang="en-US" dirty="0" err="1"/>
              <a:t>Jlink</a:t>
            </a:r>
            <a:endParaRPr lang="en-US" dirty="0"/>
          </a:p>
          <a:p>
            <a:r>
              <a:rPr lang="en-US" dirty="0"/>
              <a:t>6. CPU0</a:t>
            </a:r>
            <a:r>
              <a:rPr lang="zh-CN" altLang="en-US" dirty="0"/>
              <a:t>启动调试</a:t>
            </a:r>
            <a:endParaRPr lang="en-US" altLang="zh-CN" dirty="0"/>
          </a:p>
          <a:p>
            <a:r>
              <a:rPr lang="en-US" altLang="zh-CN" dirty="0"/>
              <a:t>7. </a:t>
            </a:r>
            <a:r>
              <a:rPr lang="zh-CN" altLang="en-US" dirty="0"/>
              <a:t>对</a:t>
            </a:r>
            <a:r>
              <a:rPr lang="en-US" dirty="0"/>
              <a:t>CPU1</a:t>
            </a:r>
            <a:r>
              <a:rPr lang="zh-CN" altLang="en-US" dirty="0"/>
              <a:t>启动调试，点击</a:t>
            </a:r>
            <a:r>
              <a:rPr lang="en-US" dirty="0"/>
              <a:t>Attach to Running Target </a:t>
            </a:r>
            <a:r>
              <a:rPr lang="zh-CN" altLang="en-US" dirty="0"/>
              <a:t>或者使用下载按钮启动</a:t>
            </a:r>
            <a:endParaRPr lang="en-US" altLang="zh-CN" dirty="0"/>
          </a:p>
          <a:p>
            <a:r>
              <a:rPr lang="en-US" altLang="zh-CN" dirty="0"/>
              <a:t>8. </a:t>
            </a:r>
            <a:r>
              <a:rPr lang="zh-CN" altLang="en-US" dirty="0"/>
              <a:t>通过对</a:t>
            </a:r>
            <a:r>
              <a:rPr lang="en-US" dirty="0"/>
              <a:t>CPU0</a:t>
            </a:r>
            <a:r>
              <a:rPr lang="zh-CN" altLang="en-US" dirty="0"/>
              <a:t>和</a:t>
            </a:r>
            <a:r>
              <a:rPr lang="en-US" dirty="0"/>
              <a:t>CPU1</a:t>
            </a:r>
            <a:r>
              <a:rPr lang="zh-CN" altLang="en-US" dirty="0"/>
              <a:t>设置断点，可以观察到一旦</a:t>
            </a:r>
            <a:r>
              <a:rPr lang="en-US" dirty="0"/>
              <a:t>CPU1</a:t>
            </a:r>
            <a:r>
              <a:rPr lang="zh-CN" altLang="en-US" dirty="0"/>
              <a:t>代码调用了</a:t>
            </a:r>
            <a:r>
              <a:rPr lang="en-US" dirty="0" err="1"/>
              <a:t>R_BSP_SecondaryCoreStart</a:t>
            </a:r>
            <a:r>
              <a:rPr lang="en-US" dirty="0"/>
              <a:t>()</a:t>
            </a:r>
            <a:r>
              <a:rPr lang="zh-CN" altLang="en-US" dirty="0"/>
              <a:t>函数，</a:t>
            </a:r>
            <a:r>
              <a:rPr lang="en-US" dirty="0"/>
              <a:t>CPU1</a:t>
            </a:r>
            <a:r>
              <a:rPr lang="zh-CN" altLang="en-US" dirty="0"/>
              <a:t>工程将会启动运行代码跳到断点处</a:t>
            </a:r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8D9021-0E06-336E-C226-BAD7C3C72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614" y="241798"/>
            <a:ext cx="3759200" cy="22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B2979A-0290-C750-E3A2-37B976D11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47663"/>
            <a:ext cx="5943600" cy="316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7373D8-C273-8DB2-50C2-CABD9CA44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249" y="7315200"/>
            <a:ext cx="3008907" cy="481972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78FD4F1-1DAA-7454-6B42-C945A17934DE}"/>
              </a:ext>
            </a:extLst>
          </p:cNvPr>
          <p:cNvSpPr/>
          <p:nvPr/>
        </p:nvSpPr>
        <p:spPr>
          <a:xfrm>
            <a:off x="5501775" y="1981140"/>
            <a:ext cx="273377" cy="2450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7C0C4C-BA3B-3909-862C-7F6C0C4589C0}"/>
              </a:ext>
            </a:extLst>
          </p:cNvPr>
          <p:cNvSpPr/>
          <p:nvPr/>
        </p:nvSpPr>
        <p:spPr>
          <a:xfrm>
            <a:off x="11256470" y="650450"/>
            <a:ext cx="311084" cy="270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5012BF-659E-A989-0639-BCF8DDA01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2008" y="3444187"/>
            <a:ext cx="2114372" cy="45889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A99EA1-D823-52A3-793B-627DBB717B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2947" y="3444187"/>
            <a:ext cx="6404082" cy="253312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ACCD80-A6C4-FC84-0793-559B372812EA}"/>
              </a:ext>
            </a:extLst>
          </p:cNvPr>
          <p:cNvCxnSpPr/>
          <p:nvPr/>
        </p:nvCxnSpPr>
        <p:spPr>
          <a:xfrm flipH="1">
            <a:off x="6806153" y="3789575"/>
            <a:ext cx="2950589" cy="2187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BBA6CC-9F1F-48B8-7631-700093A9DA2F}"/>
              </a:ext>
            </a:extLst>
          </p:cNvPr>
          <p:cNvCxnSpPr/>
          <p:nvPr/>
        </p:nvCxnSpPr>
        <p:spPr>
          <a:xfrm flipV="1">
            <a:off x="5071621" y="6108569"/>
            <a:ext cx="1498861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D921A1D-2CE7-E94E-E1CA-6288EEE6458F}"/>
              </a:ext>
            </a:extLst>
          </p:cNvPr>
          <p:cNvSpPr/>
          <p:nvPr/>
        </p:nvSpPr>
        <p:spPr>
          <a:xfrm>
            <a:off x="6492956" y="5935875"/>
            <a:ext cx="485332" cy="3453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57447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D6E958-607A-220B-E62A-CC60BC2A4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288881"/>
            <a:ext cx="10905066" cy="428023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6892D4-0A1D-218A-AC69-D76CE4E26719}"/>
              </a:ext>
            </a:extLst>
          </p:cNvPr>
          <p:cNvSpPr txBox="1"/>
          <p:nvPr/>
        </p:nvSpPr>
        <p:spPr>
          <a:xfrm>
            <a:off x="643467" y="722376"/>
            <a:ext cx="555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双核运行调试界面截图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200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802</Words>
  <Application>Microsoft Office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RA8T2 外设使用指导</vt:lpstr>
      <vt:lpstr>运算代码执行在itcm:</vt:lpstr>
      <vt:lpstr>运算代码执行在itcm:</vt:lpstr>
      <vt:lpstr>运算代码执行在sram</vt:lpstr>
      <vt:lpstr>运算代码执行在MRAM</vt:lpstr>
      <vt:lpstr>为何在itcm/sram/mram执行速度没有很大区别：因为主要是三角函数耗时较长，三角函数执行被编译器限制到了MRAM里，如下图可以看到：</vt:lpstr>
      <vt:lpstr>使用CMSIS-DSP库加速：</vt:lpstr>
      <vt:lpstr>ADC外设</vt:lpstr>
      <vt:lpstr>串口自动读取编码器：</vt:lpstr>
      <vt:lpstr>PowerPoint Presentation</vt:lpstr>
      <vt:lpstr>PowerPoint Presentation</vt:lpstr>
      <vt:lpstr>IPC双核数据交互：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Carter Liu</dc:creator>
  <cp:lastModifiedBy>Carter Liu</cp:lastModifiedBy>
  <cp:revision>28</cp:revision>
  <dcterms:created xsi:type="dcterms:W3CDTF">2025-12-01T01:12:12Z</dcterms:created>
  <dcterms:modified xsi:type="dcterms:W3CDTF">2025-12-08T06:38:28Z</dcterms:modified>
</cp:coreProperties>
</file>