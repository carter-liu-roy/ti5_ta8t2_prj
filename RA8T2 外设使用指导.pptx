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60" r:id="rId4"/>
    <p:sldId id="261" r:id="rId5"/>
    <p:sldId id="262" r:id="rId6"/>
    <p:sldId id="258" r:id="rId7"/>
    <p:sldId id="265" r:id="rId8"/>
    <p:sldId id="259" r:id="rId9"/>
    <p:sldId id="263" r:id="rId10"/>
    <p:sldId id="264" r:id="rId11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79" autoAdjust="0"/>
    <p:restoredTop sz="94660"/>
  </p:normalViewPr>
  <p:slideViewPr>
    <p:cSldViewPr snapToGrid="0">
      <p:cViewPr varScale="1">
        <p:scale>
          <a:sx n="97" d="100"/>
          <a:sy n="97" d="100"/>
        </p:scale>
        <p:origin x="222" y="7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5E26A5-C09E-A8A9-0400-74F5FE8C95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705C055-3E8A-9BAE-9078-2856C47EDE2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F379064-BF02-4055-FB0B-CF16FE25DE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B70A1E0-0ED8-1F41-FC15-6574BDE851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184A8CD-B736-D691-5079-F3E4E3A7B4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1687950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836CD8-EF2D-76AE-F2EC-546EBFC055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88FA42C-4862-C536-7A30-AED72363F9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B7E3F42-5E7E-64BD-3184-B1EADEA6CD4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367BE59-332B-290F-78A5-475346442C7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FF4D01E-D656-D867-0CB2-D664FFE30F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5200107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F61F2F6-4C64-EA40-E03D-36C53FB560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EC5ADE9-D0FA-6C4D-CDEE-F0FFD6488CB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B751C20-3735-D49C-ED5C-180E9FECE1D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4E7A794-3155-6C3A-3C87-280B23EBC70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036C6-91EE-658B-2D49-BD89C00CBF9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305359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2C926C-858D-9106-6527-23D7612385B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7778BE7-C905-7604-B68D-A22A8C8364AD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7CD1BCE-9DC0-42C4-2BB0-8A6442D4E2C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191FD99-A113-D781-5366-3C26DF6B977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7E940A7-1ED5-CF9D-EAED-6192DBAAEF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843C4938-719B-603C-BA0C-69CF599D28C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4639203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5C5D733-7B64-A1CF-31D4-8B21E749A3E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5BC4C0E-2893-2077-FE8E-771A77CE9FC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3E1B938-4723-FF44-B8A3-288B6FB5749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A0184572-F1C0-BB2A-E4AC-569FD65F2910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EC8D996-80C8-2B61-8213-2ACEF39E5888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2D87E417-6D82-92B6-452E-BA2FA070D6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7EAA185E-FB84-3FC0-182C-ADE932D1055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84234CB6-DF90-1308-B197-D0B8C85C377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3572900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14B619-D47A-9278-D4E1-0670E07F34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A9D412E-0CC6-4C4C-0081-207E2CE8FD1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475E2738-5F27-E8B2-0077-B90013C465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E2E4FCB-5532-F8F7-E32E-22831E2993B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210770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06547D70-CEE4-79DB-D4FF-833CB8DDD09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4366B28-DEC1-362E-A9BC-579B5C0BF4B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5F25A8E9-4520-D2D3-BE7D-2AD80A1610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052603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864AE81-7434-D48F-FC1C-A10D0F5D08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13C3973-E725-D64B-699A-24CD2EB6F87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57A71CD-B6DA-9B5D-B6CD-0576F4411EAD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E0DFBA3F-C766-F1A3-842F-8B6FA8E84A6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5886310-B279-D3EF-7103-0E7F7A87E0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F81ED2C-082C-221D-12B8-46ECAD018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513809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EE7EED-FC89-6866-C5D7-9E7AB0F9B70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6CFB5EA-2CE3-85FA-E120-8EDA99CA428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B589D2A-B7AF-614E-804B-B789D3AA101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A39E5CC-E83D-890C-DBB6-42BA72656D8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47D4369-82B6-3AF3-BDDD-7F49F0ABFA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B620332-D3DA-6421-37D8-041C15FA901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6707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B0B145A-4FDA-0F41-3D29-BACFF32FF1C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67CD7A-37EE-463F-4B1B-C60E053AD3DC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8AE78B6-7F98-D577-9853-AAF7B4BDFD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DBEDF95-DF8F-BEF9-5F5B-F6AB281C6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70A6EE3-FCBB-73AF-A1D3-0C7CE4151D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7118131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A03EA7B8-DDAB-0F7B-B742-DDC7A0DEEF19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C97EA5BE-E3B5-8D62-9F18-5B8A5F44F7F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B61FDE3-1AC3-9A49-2F9B-CF9D1AB5BF0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092DE3-E121-174F-22F2-907A11016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D558A09-3B6F-2E7D-9D15-01E67D79F3B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2193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8E72CD8-4A93-FFFA-40B3-17F10C78B9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2779E6E8-0B0C-BB6E-B6B3-888EC111D4B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24D1AD-7A5B-79D8-4CD2-C5439B890067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DB0EC105-BE58-48DE-9ABF-B2C3C8FB05BE}" type="datetimeFigureOut">
              <a:rPr lang="en-US" smtClean="0"/>
              <a:t>12/1/2025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BA0D73A-E3CF-880E-D51F-B4E6E0C53557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FF3D5E-80D5-956D-369F-FA71EA68F5A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2E0E1E68-6127-4925-B952-49849DAFA62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9207361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pn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08DB43-E7C4-1355-F109-F7B877B6BA08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US" dirty="0"/>
              <a:t>RA8T2 </a:t>
            </a:r>
            <a:r>
              <a:rPr lang="zh-CN" altLang="en-US" dirty="0"/>
              <a:t>外设使用指导</a:t>
            </a:r>
            <a:endParaRPr lang="en-US" dirty="0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C6BA283A-83FB-BBFE-0F44-6EBA8EC23D2B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US" altLang="zh-CN" dirty="0"/>
              <a:t>Carter liu</a:t>
            </a:r>
            <a:r>
              <a:rPr lang="zh-CN" altLang="en-US" dirty="0"/>
              <a:t> </a:t>
            </a:r>
            <a:r>
              <a:rPr lang="en-US" altLang="zh-CN" dirty="0"/>
              <a:t>20251201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0810115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0040731-CB70-5722-2A2E-71AB25F5BE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982" y="451754"/>
            <a:ext cx="9483292" cy="587776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运算代码执行在</a:t>
            </a:r>
            <a:r>
              <a:rPr lang="en-US" altLang="zh-CN" dirty="0" err="1"/>
              <a:t>itcm</a:t>
            </a:r>
            <a:r>
              <a:rPr lang="en-US" altLang="zh-CN" dirty="0"/>
              <a:t>:</a:t>
            </a:r>
            <a:endParaRPr lang="en-US" dirty="0"/>
          </a:p>
        </p:txBody>
      </p:sp>
      <p:pic>
        <p:nvPicPr>
          <p:cNvPr id="9" name="Content Placeholder 8">
            <a:extLst>
              <a:ext uri="{FF2B5EF4-FFF2-40B4-BE49-F238E27FC236}">
                <a16:creationId xmlns:a16="http://schemas.microsoft.com/office/drawing/2014/main" id="{CD41ECE1-FF0C-AECB-6C1E-0F7CDD24AADD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6518711" y="1309688"/>
            <a:ext cx="5298955" cy="2119312"/>
          </a:xfrm>
          <a:prstGeom prst="rect">
            <a:avLst/>
          </a:prstGeom>
        </p:spPr>
      </p:pic>
      <p:sp>
        <p:nvSpPr>
          <p:cNvPr id="11" name="TextBox 10">
            <a:extLst>
              <a:ext uri="{FF2B5EF4-FFF2-40B4-BE49-F238E27FC236}">
                <a16:creationId xmlns:a16="http://schemas.microsoft.com/office/drawing/2014/main" id="{FF381872-4BFF-7A72-2C10-D958ADF30DA8}"/>
              </a:ext>
            </a:extLst>
          </p:cNvPr>
          <p:cNvSpPr txBox="1"/>
          <p:nvPr/>
        </p:nvSpPr>
        <p:spPr>
          <a:xfrm>
            <a:off x="988994" y="952183"/>
            <a:ext cx="948329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#pragma </a:t>
            </a:r>
            <a:r>
              <a:rPr lang="en-US" dirty="0" err="1"/>
              <a:t>default_function_attributes</a:t>
            </a:r>
            <a:r>
              <a:rPr lang="en-US" dirty="0"/>
              <a:t> = @ ".</a:t>
            </a:r>
            <a:r>
              <a:rPr lang="en-US" dirty="0" err="1"/>
              <a:t>itcm_code_from_flash</a:t>
            </a:r>
            <a:r>
              <a:rPr lang="en-US" dirty="0"/>
              <a:t>“</a:t>
            </a:r>
          </a:p>
          <a:p>
            <a:r>
              <a:rPr lang="en-US" dirty="0"/>
              <a:t>Func1();</a:t>
            </a:r>
          </a:p>
          <a:p>
            <a:r>
              <a:rPr lang="en-US" dirty="0"/>
              <a:t>Func2();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#pragma </a:t>
            </a:r>
            <a:r>
              <a:rPr lang="en-US" dirty="0" err="1"/>
              <a:t>default_function_attributes</a:t>
            </a:r>
            <a:r>
              <a:rPr lang="en-US" dirty="0"/>
              <a:t> =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3BFE86C8-635C-647D-9167-833B891F475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8994" y="3629840"/>
            <a:ext cx="7954998" cy="2691721"/>
          </a:xfrm>
          <a:prstGeom prst="rect">
            <a:avLst/>
          </a:prstGeom>
        </p:spPr>
      </p:pic>
      <p:sp>
        <p:nvSpPr>
          <p:cNvPr id="14" name="TextBox 13">
            <a:extLst>
              <a:ext uri="{FF2B5EF4-FFF2-40B4-BE49-F238E27FC236}">
                <a16:creationId xmlns:a16="http://schemas.microsoft.com/office/drawing/2014/main" id="{1481BCC6-7D86-3BAE-A020-84D82D08020D}"/>
              </a:ext>
            </a:extLst>
          </p:cNvPr>
          <p:cNvSpPr txBox="1"/>
          <p:nvPr/>
        </p:nvSpPr>
        <p:spPr>
          <a:xfrm>
            <a:off x="6265368" y="5949992"/>
            <a:ext cx="189186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b="1" dirty="0">
                <a:solidFill>
                  <a:srgbClr val="FF0000"/>
                </a:solidFill>
              </a:rPr>
              <a:t>执行时间：</a:t>
            </a:r>
            <a:r>
              <a:rPr lang="en-US" altLang="zh-CN" b="1" dirty="0">
                <a:solidFill>
                  <a:srgbClr val="FF0000"/>
                </a:solidFill>
              </a:rPr>
              <a:t>2.5us</a:t>
            </a:r>
            <a:endParaRPr lang="en-US" b="1" dirty="0">
              <a:solidFill>
                <a:srgbClr val="FF0000"/>
              </a:solidFill>
            </a:endParaRPr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0A940274-BDD9-D876-871B-91057050476A}"/>
              </a:ext>
            </a:extLst>
          </p:cNvPr>
          <p:cNvSpPr txBox="1"/>
          <p:nvPr/>
        </p:nvSpPr>
        <p:spPr>
          <a:xfrm>
            <a:off x="907982" y="2429511"/>
            <a:ext cx="5610729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sz="1200" dirty="0"/>
              <a:t>计时方法：打开定时器</a:t>
            </a:r>
            <a:r>
              <a:rPr lang="en-US" altLang="zh-CN" sz="1200" dirty="0"/>
              <a:t>GPT ch1, </a:t>
            </a:r>
            <a:r>
              <a:rPr lang="zh-CN" altLang="en-US" sz="1200" dirty="0"/>
              <a:t>先读一下定时器值，再读一下定时器值，再作差，得到两次读寄存器的延迟时间，记作</a:t>
            </a:r>
            <a:r>
              <a:rPr lang="en-US" altLang="zh-CN" sz="1200" dirty="0" err="1"/>
              <a:t>counter_shift</a:t>
            </a:r>
            <a:endParaRPr lang="en-US" altLang="zh-CN" sz="1200" dirty="0"/>
          </a:p>
          <a:p>
            <a:r>
              <a:rPr lang="zh-CN" altLang="en-US" sz="1200" dirty="0"/>
              <a:t>在开始计算之前读一下定时器计数值，记作</a:t>
            </a:r>
            <a:r>
              <a:rPr lang="en-US" altLang="zh-CN" sz="1200" dirty="0"/>
              <a:t>counter3,</a:t>
            </a:r>
            <a:r>
              <a:rPr lang="zh-CN" altLang="en-US" sz="1200" dirty="0"/>
              <a:t>在结束计算后再读一下定时器计数值，得到</a:t>
            </a:r>
            <a:r>
              <a:rPr lang="en-US" altLang="zh-CN" sz="1200" dirty="0"/>
              <a:t>counter4,</a:t>
            </a:r>
            <a:r>
              <a:rPr lang="zh-CN" altLang="en-US" sz="1200" dirty="0"/>
              <a:t>那么执行计算的时间就是</a:t>
            </a:r>
            <a:r>
              <a:rPr lang="en-US" altLang="zh-CN" sz="1200" dirty="0"/>
              <a:t>counter4-counter3-counter_shift, </a:t>
            </a:r>
            <a:r>
              <a:rPr lang="zh-CN" altLang="en-US" sz="1200" dirty="0"/>
              <a:t>每个时间单位是</a:t>
            </a:r>
            <a:r>
              <a:rPr lang="en-US" altLang="zh-CN" sz="1200" dirty="0"/>
              <a:t>3.33ns(300Mhz GPT),</a:t>
            </a:r>
            <a:r>
              <a:rPr lang="zh-CN" altLang="en-US" sz="1200" dirty="0"/>
              <a:t>得到</a:t>
            </a:r>
            <a:r>
              <a:rPr lang="en-US" altLang="zh-CN" sz="1200" dirty="0" err="1"/>
              <a:t>running_time</a:t>
            </a:r>
            <a:r>
              <a:rPr lang="en-US" altLang="zh-CN" sz="1200" dirty="0"/>
              <a:t> = </a:t>
            </a:r>
            <a:r>
              <a:rPr lang="zh-CN" altLang="en-US" sz="1200" dirty="0"/>
              <a:t>计时器值</a:t>
            </a:r>
            <a:r>
              <a:rPr lang="en-US" altLang="zh-CN" sz="1200" dirty="0"/>
              <a:t>*3.33ns</a:t>
            </a:r>
            <a:endParaRPr lang="en-US" sz="1200" dirty="0"/>
          </a:p>
        </p:txBody>
      </p:sp>
    </p:spTree>
    <p:extLst>
      <p:ext uri="{BB962C8B-B14F-4D97-AF65-F5344CB8AC3E}">
        <p14:creationId xmlns:p14="http://schemas.microsoft.com/office/powerpoint/2010/main" val="113230564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D613AC-A18C-B56B-E161-9075F23EED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5FAAC-A7EA-A978-5C89-CB4523E7B77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719" y="349850"/>
            <a:ext cx="9483292" cy="587776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运算代码执行在</a:t>
            </a:r>
            <a:r>
              <a:rPr lang="en-US" altLang="zh-CN" dirty="0" err="1"/>
              <a:t>itcm</a:t>
            </a:r>
            <a:r>
              <a:rPr lang="en-US" altLang="zh-CN" dirty="0"/>
              <a:t>:</a:t>
            </a:r>
            <a:endParaRPr lang="en-US" dirty="0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13AF5683-F9C7-4ABC-19E4-F15510BF02D2}"/>
              </a:ext>
            </a:extLst>
          </p:cNvPr>
          <p:cNvSpPr txBox="1"/>
          <p:nvPr/>
        </p:nvSpPr>
        <p:spPr>
          <a:xfrm>
            <a:off x="533399" y="1553431"/>
            <a:ext cx="4490990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验证代码是跑在</a:t>
            </a:r>
            <a:r>
              <a:rPr lang="en-US" altLang="zh-CN" dirty="0" err="1"/>
              <a:t>itcm</a:t>
            </a:r>
            <a:r>
              <a:rPr lang="zh-CN" altLang="en-US" dirty="0"/>
              <a:t>上的：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en-US" altLang="zh-CN" dirty="0"/>
              <a:t>Map</a:t>
            </a:r>
            <a:r>
              <a:rPr lang="zh-CN" altLang="en-US" dirty="0"/>
              <a:t>文件中，函数地址被分配到了</a:t>
            </a:r>
            <a:r>
              <a:rPr lang="en-US" altLang="zh-CN" dirty="0" err="1"/>
              <a:t>iTCM</a:t>
            </a:r>
            <a:r>
              <a:rPr lang="en-US" altLang="zh-CN" dirty="0"/>
              <a:t> </a:t>
            </a:r>
            <a:r>
              <a:rPr lang="zh-CN" altLang="en-US" dirty="0"/>
              <a:t>区域</a:t>
            </a:r>
            <a:endParaRPr lang="en-US" altLang="zh-CN" dirty="0"/>
          </a:p>
          <a:p>
            <a:pPr marL="342900" indent="-342900">
              <a:buAutoNum type="arabicPeriod"/>
            </a:pPr>
            <a:r>
              <a:rPr lang="zh-CN" altLang="en-US" dirty="0"/>
              <a:t>执行时候看，执行在</a:t>
            </a:r>
            <a:r>
              <a:rPr lang="en-US" altLang="zh-CN" dirty="0"/>
              <a:t>map</a:t>
            </a:r>
            <a:r>
              <a:rPr lang="zh-CN" altLang="en-US" dirty="0"/>
              <a:t>对应的地址位置</a:t>
            </a:r>
            <a:endParaRPr lang="en-US" altLang="zh-CN" dirty="0"/>
          </a:p>
          <a:p>
            <a:pPr marL="342900" indent="-342900">
              <a:buAutoNum type="arabicPeriod"/>
            </a:pPr>
            <a:endParaRPr lang="en-US" dirty="0"/>
          </a:p>
        </p:txBody>
      </p:sp>
      <p:pic>
        <p:nvPicPr>
          <p:cNvPr id="17" name="Picture 16">
            <a:extLst>
              <a:ext uri="{FF2B5EF4-FFF2-40B4-BE49-F238E27FC236}">
                <a16:creationId xmlns:a16="http://schemas.microsoft.com/office/drawing/2014/main" id="{DB7B494D-A930-C89D-2B96-0EA0C32F24C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0243" y="3253692"/>
            <a:ext cx="7632190" cy="3436958"/>
          </a:xfrm>
          <a:prstGeom prst="rect">
            <a:avLst/>
          </a:prstGeom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97F03A27-7E4D-E201-C0EB-C8097E41787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4161" y="167350"/>
            <a:ext cx="6068272" cy="27721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244580243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9C06440-AD95-16B0-497D-CE0FB9A6FE1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E424C1A-63BE-135A-5DEB-3C1B0AC40C3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982" y="451754"/>
            <a:ext cx="9483292" cy="587776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运算代码执行在</a:t>
            </a:r>
            <a:r>
              <a:rPr lang="en-US" altLang="zh-CN" dirty="0" err="1"/>
              <a:t>sram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80F1A24-DB1F-A5A7-D53B-595AA254ADF3}"/>
              </a:ext>
            </a:extLst>
          </p:cNvPr>
          <p:cNvSpPr txBox="1"/>
          <p:nvPr/>
        </p:nvSpPr>
        <p:spPr>
          <a:xfrm>
            <a:off x="988994" y="952183"/>
            <a:ext cx="9483291" cy="147732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#pragma </a:t>
            </a:r>
            <a:r>
              <a:rPr lang="en-US" dirty="0" err="1"/>
              <a:t>default_function_attributes</a:t>
            </a:r>
            <a:r>
              <a:rPr lang="en-US" dirty="0"/>
              <a:t> = @ ".</a:t>
            </a:r>
            <a:r>
              <a:rPr lang="en-US" dirty="0" err="1"/>
              <a:t>ram_code_from_flash</a:t>
            </a:r>
            <a:r>
              <a:rPr lang="en-US" dirty="0"/>
              <a:t>“</a:t>
            </a:r>
          </a:p>
          <a:p>
            <a:r>
              <a:rPr lang="en-US" dirty="0"/>
              <a:t>Func1();</a:t>
            </a:r>
          </a:p>
          <a:p>
            <a:r>
              <a:rPr lang="en-US" dirty="0"/>
              <a:t>Func2();</a:t>
            </a:r>
          </a:p>
          <a:p>
            <a:r>
              <a:rPr lang="en-US" dirty="0"/>
              <a:t>…</a:t>
            </a:r>
          </a:p>
          <a:p>
            <a:r>
              <a:rPr lang="en-US" dirty="0"/>
              <a:t>#pragma </a:t>
            </a:r>
            <a:r>
              <a:rPr lang="en-US" dirty="0" err="1"/>
              <a:t>default_function_attributes</a:t>
            </a:r>
            <a:r>
              <a:rPr lang="en-US" dirty="0"/>
              <a:t> =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E9E6CCAC-67C2-1EF6-BA55-03838FAB3DC5}"/>
              </a:ext>
            </a:extLst>
          </p:cNvPr>
          <p:cNvSpPr txBox="1"/>
          <p:nvPr/>
        </p:nvSpPr>
        <p:spPr>
          <a:xfrm>
            <a:off x="907982" y="2875359"/>
            <a:ext cx="201529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/>
              <a:t>执行时间：</a:t>
            </a:r>
            <a:r>
              <a:rPr lang="en-US" altLang="zh-CN" dirty="0"/>
              <a:t>2.75us</a:t>
            </a: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CA87886-BF54-B81A-C65B-E0E5D5A2557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28761" y="1349447"/>
            <a:ext cx="5982336" cy="2160127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A92B1858-1551-10C5-78A2-FFD215A85C7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03817" y="1925061"/>
            <a:ext cx="5907280" cy="2269928"/>
          </a:xfrm>
          <a:prstGeom prst="rect">
            <a:avLst/>
          </a:prstGeom>
        </p:spPr>
      </p:pic>
      <p:pic>
        <p:nvPicPr>
          <p:cNvPr id="12" name="Picture 11">
            <a:extLst>
              <a:ext uri="{FF2B5EF4-FFF2-40B4-BE49-F238E27FC236}">
                <a16:creationId xmlns:a16="http://schemas.microsoft.com/office/drawing/2014/main" id="{62BD1AC0-C583-57EC-F4EB-09F52A05746B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944587" y="3983233"/>
            <a:ext cx="8033887" cy="27719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972064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A4BC6B1-6239-52A1-A913-81845E201B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1D9128-FB33-7F1C-0EC2-DCC7FDDDE8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07982" y="451754"/>
            <a:ext cx="9483292" cy="587776"/>
          </a:xfrm>
        </p:spPr>
        <p:txBody>
          <a:bodyPr>
            <a:normAutofit fontScale="90000"/>
          </a:bodyPr>
          <a:lstStyle/>
          <a:p>
            <a:r>
              <a:rPr lang="zh-CN" altLang="en-US" dirty="0"/>
              <a:t>运算代码执行在</a:t>
            </a:r>
            <a:r>
              <a:rPr lang="en-US" altLang="zh-CN" dirty="0"/>
              <a:t>MRAM</a:t>
            </a:r>
            <a:endParaRPr lang="en-US" dirty="0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DF111205-E29A-886D-BEB9-73DDED92A593}"/>
              </a:ext>
            </a:extLst>
          </p:cNvPr>
          <p:cNvSpPr txBox="1"/>
          <p:nvPr/>
        </p:nvSpPr>
        <p:spPr>
          <a:xfrm>
            <a:off x="988994" y="952183"/>
            <a:ext cx="9483291" cy="175432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zh-CN" altLang="en-US" dirty="0"/>
              <a:t>注释掉相关宏定义即可，即默认</a:t>
            </a:r>
            <a:endParaRPr lang="en-US" dirty="0"/>
          </a:p>
          <a:p>
            <a:r>
              <a:rPr lang="en-US" dirty="0"/>
              <a:t>Func1();</a:t>
            </a:r>
          </a:p>
          <a:p>
            <a:r>
              <a:rPr lang="en-US" dirty="0"/>
              <a:t>Func2();</a:t>
            </a:r>
          </a:p>
          <a:p>
            <a:r>
              <a:rPr lang="en-US" dirty="0"/>
              <a:t>…</a:t>
            </a:r>
          </a:p>
          <a:p>
            <a:endParaRPr lang="en-US" dirty="0"/>
          </a:p>
          <a:p>
            <a:r>
              <a:rPr lang="zh-CN" altLang="en-US" dirty="0"/>
              <a:t>执行时间</a:t>
            </a:r>
            <a:r>
              <a:rPr lang="en-US" altLang="zh-CN" dirty="0"/>
              <a:t>2.766us</a:t>
            </a:r>
            <a:endParaRPr lang="en-US" dirty="0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F4BE0522-B2EA-31A9-F1CF-1049F937480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97280" y="2840563"/>
            <a:ext cx="10658374" cy="35656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2060861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258B8AD-9BA6-15FC-6956-8E36A640F45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F05641A-46CF-40FA-0209-2907959C8AB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66" y="847023"/>
            <a:ext cx="10827618" cy="1482291"/>
          </a:xfrm>
        </p:spPr>
        <p:txBody>
          <a:bodyPr>
            <a:normAutofit/>
          </a:bodyPr>
          <a:lstStyle/>
          <a:p>
            <a:r>
              <a:rPr lang="zh-CN" altLang="en-US" sz="2800" b="1" dirty="0"/>
              <a:t>为何在</a:t>
            </a:r>
            <a:r>
              <a:rPr lang="en-US" altLang="zh-CN" sz="2800" b="1" dirty="0" err="1"/>
              <a:t>itcm</a:t>
            </a:r>
            <a:r>
              <a:rPr lang="en-US" altLang="zh-CN" sz="2800" b="1" dirty="0"/>
              <a:t>/</a:t>
            </a:r>
            <a:r>
              <a:rPr lang="en-US" altLang="zh-CN" sz="2800" b="1" dirty="0" err="1"/>
              <a:t>sram</a:t>
            </a:r>
            <a:r>
              <a:rPr lang="en-US" altLang="zh-CN" sz="2800" b="1" dirty="0"/>
              <a:t>/</a:t>
            </a:r>
            <a:r>
              <a:rPr lang="en-US" altLang="zh-CN" sz="2800" b="1" dirty="0" err="1"/>
              <a:t>mram</a:t>
            </a:r>
            <a:r>
              <a:rPr lang="zh-CN" altLang="en-US" sz="2800" b="1" dirty="0"/>
              <a:t>执行速度没有很大区别：因为主要是三角函数耗时较长，三角函数执行被编译器限制到了</a:t>
            </a:r>
            <a:r>
              <a:rPr lang="en-US" altLang="zh-CN" sz="2800" b="1" dirty="0"/>
              <a:t>MRAM</a:t>
            </a:r>
            <a:r>
              <a:rPr lang="zh-CN" altLang="en-US" sz="2800" b="1" dirty="0"/>
              <a:t>里，如下图可以看到：</a:t>
            </a:r>
            <a:endParaRPr lang="en-US" sz="2800" b="1" dirty="0"/>
          </a:p>
        </p:txBody>
      </p:sp>
      <p:pic>
        <p:nvPicPr>
          <p:cNvPr id="12" name="Content Placeholder 11">
            <a:extLst>
              <a:ext uri="{FF2B5EF4-FFF2-40B4-BE49-F238E27FC236}">
                <a16:creationId xmlns:a16="http://schemas.microsoft.com/office/drawing/2014/main" id="{29CF076A-2F1E-15D8-4B53-AA2A992FA2D6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584586" y="2228656"/>
            <a:ext cx="9781821" cy="2401096"/>
          </a:xfrm>
          <a:prstGeom prst="rect">
            <a:avLst/>
          </a:prstGeom>
        </p:spPr>
      </p:pic>
      <p:sp>
        <p:nvSpPr>
          <p:cNvPr id="13" name="TextBox 12">
            <a:extLst>
              <a:ext uri="{FF2B5EF4-FFF2-40B4-BE49-F238E27FC236}">
                <a16:creationId xmlns:a16="http://schemas.microsoft.com/office/drawing/2014/main" id="{A4CE24DE-5CC4-0F33-0249-DF6977363842}"/>
              </a:ext>
            </a:extLst>
          </p:cNvPr>
          <p:cNvSpPr txBox="1"/>
          <p:nvPr/>
        </p:nvSpPr>
        <p:spPr>
          <a:xfrm>
            <a:off x="584586" y="4937760"/>
            <a:ext cx="10827618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zh-CN" altLang="en-US" dirty="0"/>
              <a:t>若代码中没有</a:t>
            </a:r>
            <a:r>
              <a:rPr lang="en-US" altLang="zh-CN" dirty="0"/>
              <a:t>math</a:t>
            </a:r>
            <a:r>
              <a:rPr lang="zh-CN" altLang="en-US" dirty="0"/>
              <a:t>库函数，则执行在</a:t>
            </a:r>
            <a:r>
              <a:rPr lang="en-US" altLang="zh-CN" dirty="0" err="1"/>
              <a:t>itcm</a:t>
            </a:r>
            <a:r>
              <a:rPr lang="zh-CN" altLang="en-US" dirty="0"/>
              <a:t>的速度将会明显比</a:t>
            </a:r>
            <a:r>
              <a:rPr lang="en-US" altLang="zh-CN" dirty="0" err="1"/>
              <a:t>sram</a:t>
            </a:r>
            <a:r>
              <a:rPr lang="en-US" altLang="zh-CN" dirty="0"/>
              <a:t>/</a:t>
            </a:r>
            <a:r>
              <a:rPr lang="en-US" altLang="zh-CN" dirty="0" err="1"/>
              <a:t>mram</a:t>
            </a:r>
            <a:r>
              <a:rPr lang="zh-CN" altLang="en-US" dirty="0"/>
              <a:t>高很多，可以把关键代码放</a:t>
            </a:r>
            <a:r>
              <a:rPr lang="en-US" altLang="zh-CN" dirty="0" err="1"/>
              <a:t>itcm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403188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67F09B-090E-DED6-C455-CCAFEF738E0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6B4F5F2-41FF-1EB3-D7EE-739B41AE22B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2066" y="847023"/>
            <a:ext cx="10827618" cy="1482291"/>
          </a:xfrm>
        </p:spPr>
        <p:txBody>
          <a:bodyPr>
            <a:normAutofit/>
          </a:bodyPr>
          <a:lstStyle/>
          <a:p>
            <a:r>
              <a:rPr lang="zh-CN" altLang="en-US" sz="2800" b="1" dirty="0"/>
              <a:t>使用</a:t>
            </a:r>
            <a:r>
              <a:rPr lang="en-US" altLang="zh-CN" sz="2800" b="1" dirty="0"/>
              <a:t>CMSIS-DSP</a:t>
            </a:r>
            <a:r>
              <a:rPr lang="zh-CN" altLang="en-US" sz="2800" b="1" dirty="0"/>
              <a:t>库加速：</a:t>
            </a:r>
            <a:endParaRPr lang="en-US" sz="2800" b="1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C899C5-B11B-A26D-FA0E-61A1A85530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4717026" cy="2775872"/>
          </a:xfrm>
        </p:spPr>
        <p:txBody>
          <a:bodyPr/>
          <a:lstStyle/>
          <a:p>
            <a:r>
              <a:rPr lang="en-US" dirty="0"/>
              <a:t>1. </a:t>
            </a:r>
            <a:r>
              <a:rPr lang="en-US" altLang="zh-CN" dirty="0"/>
              <a:t>FSP</a:t>
            </a:r>
            <a:r>
              <a:rPr lang="zh-CN" altLang="en-US" dirty="0"/>
              <a:t>加入</a:t>
            </a:r>
            <a:r>
              <a:rPr lang="en-US" altLang="zh-CN" dirty="0"/>
              <a:t>DSP</a:t>
            </a:r>
            <a:r>
              <a:rPr lang="zh-CN" altLang="en-US" dirty="0"/>
              <a:t>库</a:t>
            </a:r>
            <a:endParaRPr lang="en-US" altLang="zh-CN" dirty="0"/>
          </a:p>
          <a:p>
            <a:r>
              <a:rPr lang="en-US" altLang="zh-CN" dirty="0"/>
              <a:t>2. </a:t>
            </a:r>
            <a:r>
              <a:rPr lang="zh-CN" altLang="en-US" dirty="0"/>
              <a:t>替换</a:t>
            </a:r>
            <a:r>
              <a:rPr lang="en-US" altLang="zh-CN" dirty="0" err="1"/>
              <a:t>math.h</a:t>
            </a:r>
            <a:r>
              <a:rPr lang="zh-CN" altLang="en-US" dirty="0"/>
              <a:t>里相关函数</a:t>
            </a:r>
            <a:endParaRPr lang="en-US" altLang="zh-CN" dirty="0"/>
          </a:p>
          <a:p>
            <a:r>
              <a:rPr lang="en-US" altLang="zh-CN" dirty="0"/>
              <a:t>3. </a:t>
            </a:r>
            <a:r>
              <a:rPr lang="zh-CN" altLang="en-US" dirty="0"/>
              <a:t>检测执行时间，在</a:t>
            </a:r>
            <a:r>
              <a:rPr lang="en-US" altLang="zh-CN" dirty="0" err="1"/>
              <a:t>mram</a:t>
            </a:r>
            <a:r>
              <a:rPr lang="zh-CN" altLang="en-US" dirty="0"/>
              <a:t>中执行，时间缩短到原来的一半以内</a:t>
            </a:r>
            <a:endParaRPr lang="en-US" altLang="zh-CN" dirty="0"/>
          </a:p>
          <a:p>
            <a:pPr marL="0" indent="0">
              <a:buNone/>
            </a:pPr>
            <a:endParaRPr lang="en-US" dirty="0"/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A7A4E36C-7BB1-3B6D-2E46-A1D529B870D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38020" y="681037"/>
            <a:ext cx="6271914" cy="2504758"/>
          </a:xfrm>
          <a:prstGeom prst="rect">
            <a:avLst/>
          </a:prstGeom>
        </p:spPr>
      </p:pic>
      <p:pic>
        <p:nvPicPr>
          <p:cNvPr id="8" name="Picture 7">
            <a:extLst>
              <a:ext uri="{FF2B5EF4-FFF2-40B4-BE49-F238E27FC236}">
                <a16:creationId xmlns:a16="http://schemas.microsoft.com/office/drawing/2014/main" id="{B2DA4581-04A1-B36E-9594-756C3C63934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06578" y="3295298"/>
            <a:ext cx="5534797" cy="924054"/>
          </a:xfrm>
          <a:prstGeom prst="rect">
            <a:avLst/>
          </a:prstGeom>
        </p:spPr>
      </p:pic>
      <p:pic>
        <p:nvPicPr>
          <p:cNvPr id="10" name="Picture 9" descr="A screenshot of a computer&#10;&#10;AI-generated content may be incorrect.">
            <a:extLst>
              <a:ext uri="{FF2B5EF4-FFF2-40B4-BE49-F238E27FC236}">
                <a16:creationId xmlns:a16="http://schemas.microsoft.com/office/drawing/2014/main" id="{821580E0-A479-3FDC-E148-05C95FB15BEE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4260165"/>
            <a:ext cx="11867535" cy="25170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2413352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EB222AC-7056-5757-5C53-E8EF710D7A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A1911D-F0ED-AA72-05B7-A4A5C43D4F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ADC</a:t>
            </a:r>
            <a:r>
              <a:rPr lang="zh-CN" altLang="en-US" dirty="0"/>
              <a:t>外设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EF895B28-B39B-7DDE-8DCB-65EBD139E85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0650"/>
            <a:ext cx="4695825" cy="4786313"/>
          </a:xfrm>
        </p:spPr>
        <p:txBody>
          <a:bodyPr/>
          <a:lstStyle/>
          <a:p>
            <a:r>
              <a:rPr lang="zh-CN" altLang="en-US" dirty="0"/>
              <a:t>触发逻辑：</a:t>
            </a:r>
            <a:endParaRPr lang="en-US" altLang="zh-CN" dirty="0"/>
          </a:p>
          <a:p>
            <a:r>
              <a:rPr lang="zh-CN" altLang="en-US" b="1" dirty="0"/>
              <a:t>使用</a:t>
            </a:r>
            <a:r>
              <a:rPr lang="en-US" altLang="zh-CN" b="1" dirty="0"/>
              <a:t>GPT</a:t>
            </a:r>
            <a:r>
              <a:rPr lang="zh-CN" altLang="en-US" b="1" dirty="0"/>
              <a:t>发波单元的一个通道的比较器触发，该比较器是专门做</a:t>
            </a:r>
            <a:r>
              <a:rPr lang="en-US" altLang="zh-CN" b="1" dirty="0"/>
              <a:t>ADC</a:t>
            </a:r>
            <a:r>
              <a:rPr lang="zh-CN" altLang="en-US" b="1" dirty="0"/>
              <a:t>触发使用的，将需要采样触发的时间写入比较器即可</a:t>
            </a:r>
            <a:endParaRPr lang="en-US" altLang="zh-CN" b="1" dirty="0"/>
          </a:p>
          <a:p>
            <a:r>
              <a:rPr lang="en-US" altLang="zh-CN" b="1" dirty="0"/>
              <a:t>ADC</a:t>
            </a:r>
            <a:r>
              <a:rPr lang="zh-CN" altLang="en-US" b="1" dirty="0"/>
              <a:t>配置</a:t>
            </a:r>
            <a:r>
              <a:rPr lang="en-US" altLang="zh-CN" b="1" dirty="0"/>
              <a:t>Unit 0 </a:t>
            </a:r>
            <a:r>
              <a:rPr lang="zh-CN" altLang="en-US" b="1" dirty="0"/>
              <a:t>的</a:t>
            </a:r>
            <a:r>
              <a:rPr lang="en-US" altLang="zh-CN" b="1" dirty="0"/>
              <a:t>ch0 1 2</a:t>
            </a:r>
            <a:r>
              <a:rPr lang="zh-CN" altLang="en-US" b="1" dirty="0"/>
              <a:t>，从启动触发到进入中断拿数据的耗时为</a:t>
            </a:r>
            <a:r>
              <a:rPr lang="en-US" altLang="zh-CN" b="1" dirty="0"/>
              <a:t>1.4us</a:t>
            </a:r>
            <a:r>
              <a:rPr lang="zh-CN" altLang="en-US" b="1" dirty="0"/>
              <a:t>左右。</a:t>
            </a:r>
            <a:endParaRPr lang="en-US" b="1" dirty="0"/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527A3F24-942D-914A-4596-6C89DB1C7E0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00788" y="365125"/>
            <a:ext cx="5383729" cy="3721812"/>
          </a:xfrm>
          <a:prstGeom prst="rect">
            <a:avLst/>
          </a:prstGeom>
        </p:spPr>
      </p:pic>
      <p:pic>
        <p:nvPicPr>
          <p:cNvPr id="13" name="Picture 12" descr="A screenshot of a computer&#10;&#10;AI-generated content may be incorrect.">
            <a:extLst>
              <a:ext uri="{FF2B5EF4-FFF2-40B4-BE49-F238E27FC236}">
                <a16:creationId xmlns:a16="http://schemas.microsoft.com/office/drawing/2014/main" id="{9AAE30B4-1494-D6EB-7482-6A5FD55B7D0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900788" y="4166567"/>
            <a:ext cx="5383729" cy="255138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083504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498952-31A3-F5DF-10C8-1B01CAA43F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54F0968-0F9D-8408-D8DF-16DCC318994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dirty="0"/>
              <a:t>串口自动读取编码器：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085C7CAA-FA04-5AF0-00CA-71E9FF10A26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0651"/>
            <a:ext cx="11210926" cy="1325563"/>
          </a:xfrm>
        </p:spPr>
        <p:txBody>
          <a:bodyPr>
            <a:normAutofit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触发逻辑：</a:t>
            </a:r>
            <a:endParaRPr lang="en-US" altLang="zh-CN" sz="1200" b="1" dirty="0">
              <a:solidFill>
                <a:srgbClr val="FF0000"/>
              </a:solidFill>
            </a:endParaRPr>
          </a:p>
          <a:p>
            <a:r>
              <a:rPr lang="zh-CN" altLang="en-US" sz="1200" b="1" dirty="0"/>
              <a:t>使用</a:t>
            </a:r>
            <a:r>
              <a:rPr lang="en-US" altLang="zh-CN" sz="1200" b="1" dirty="0"/>
              <a:t>GPT</a:t>
            </a:r>
            <a:r>
              <a:rPr lang="zh-CN" altLang="en-US" sz="1200" b="1" dirty="0"/>
              <a:t>通道</a:t>
            </a:r>
            <a:r>
              <a:rPr lang="en-US" altLang="zh-CN" sz="1200" b="1" dirty="0"/>
              <a:t>3</a:t>
            </a:r>
            <a:r>
              <a:rPr lang="zh-CN" altLang="en-US" sz="1200" b="1" dirty="0"/>
              <a:t>比较匹配</a:t>
            </a:r>
            <a:r>
              <a:rPr lang="en-US" altLang="zh-CN" sz="1200" b="1" dirty="0"/>
              <a:t>A</a:t>
            </a:r>
            <a:r>
              <a:rPr lang="zh-CN" altLang="en-US" sz="1200" b="1" dirty="0"/>
              <a:t>进行触发，在比较匹配值里设定需要触发的位置，并在代码中同时启动</a:t>
            </a:r>
            <a:r>
              <a:rPr lang="en-US" altLang="zh-CN" sz="1200" b="1" dirty="0"/>
              <a:t>GPT</a:t>
            </a:r>
            <a:r>
              <a:rPr lang="zh-CN" altLang="en-US" sz="1200" b="1" dirty="0"/>
              <a:t>和三相发波单元，保证两者是完全同步的。</a:t>
            </a:r>
            <a:r>
              <a:rPr lang="en-US" altLang="zh-CN" sz="1200" b="1" dirty="0"/>
              <a:t>GPT ch3</a:t>
            </a:r>
            <a:r>
              <a:rPr lang="zh-CN" altLang="en-US" sz="1200" b="1" dirty="0"/>
              <a:t>也设定为与载频相同的周期。注意触发序列为：</a:t>
            </a:r>
            <a:endParaRPr lang="en-US" altLang="zh-CN" sz="1200" b="1" dirty="0"/>
          </a:p>
          <a:p>
            <a:r>
              <a:rPr lang="en-US" altLang="zh-CN" sz="1200" b="1" dirty="0"/>
              <a:t>GPT ch3 </a:t>
            </a:r>
            <a:r>
              <a:rPr lang="en-US" altLang="zh-CN" sz="1200" b="1" dirty="0">
                <a:sym typeface="Wingdings" panose="05000000000000000000" pitchFamily="2" charset="2"/>
              </a:rPr>
              <a:t> DMA ch0  UART TDR</a:t>
            </a:r>
            <a:r>
              <a:rPr lang="zh-CN" altLang="en-US" sz="1200" b="1" dirty="0">
                <a:sym typeface="Wingdings" panose="05000000000000000000" pitchFamily="2" charset="2"/>
              </a:rPr>
              <a:t>自动发送</a:t>
            </a:r>
            <a:r>
              <a:rPr lang="en-US" altLang="zh-CN" sz="1200" b="1" dirty="0">
                <a:sym typeface="Wingdings" panose="05000000000000000000" pitchFamily="2" charset="2"/>
              </a:rPr>
              <a:t>0x73</a:t>
            </a:r>
            <a:r>
              <a:rPr lang="zh-CN" altLang="en-US" sz="1200" b="1" dirty="0">
                <a:sym typeface="Wingdings" panose="05000000000000000000" pitchFamily="2" charset="2"/>
              </a:rPr>
              <a:t>到编码器</a:t>
            </a:r>
            <a:endParaRPr lang="en-US" altLang="zh-CN" sz="1200" b="1" dirty="0">
              <a:sym typeface="Wingdings" panose="05000000000000000000" pitchFamily="2" charset="2"/>
            </a:endParaRPr>
          </a:p>
          <a:p>
            <a:r>
              <a:rPr lang="en-US" altLang="zh-CN" sz="1200" b="1" dirty="0">
                <a:sym typeface="Wingdings" panose="05000000000000000000" pitchFamily="2" charset="2"/>
              </a:rPr>
              <a:t>UART RDR  DMA ch2  </a:t>
            </a:r>
            <a:r>
              <a:rPr lang="en-US" altLang="zh-CN" sz="1200" b="1" dirty="0" err="1">
                <a:sym typeface="Wingdings" panose="05000000000000000000" pitchFamily="2" charset="2"/>
              </a:rPr>
              <a:t>g_recBuf</a:t>
            </a:r>
            <a:r>
              <a:rPr lang="zh-CN" altLang="en-US" sz="1200" b="1" dirty="0">
                <a:sym typeface="Wingdings" panose="05000000000000000000" pitchFamily="2" charset="2"/>
              </a:rPr>
              <a:t>自动读取到位置信息</a:t>
            </a:r>
            <a:endParaRPr lang="en-US" altLang="zh-CN" sz="1200" b="1" dirty="0">
              <a:sym typeface="Wingdings" panose="05000000000000000000" pitchFamily="2" charset="2"/>
            </a:endParaRPr>
          </a:p>
        </p:txBody>
      </p:sp>
      <p:pic>
        <p:nvPicPr>
          <p:cNvPr id="8" name="Picture 7" descr="A screenshot of a computer&#10;&#10;AI-generated content may be incorrect.">
            <a:extLst>
              <a:ext uri="{FF2B5EF4-FFF2-40B4-BE49-F238E27FC236}">
                <a16:creationId xmlns:a16="http://schemas.microsoft.com/office/drawing/2014/main" id="{CBD92714-D59F-ECF9-FF6B-5ADE13D0DA7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35" y="4367313"/>
            <a:ext cx="8410138" cy="2125562"/>
          </a:xfrm>
          <a:prstGeom prst="rect">
            <a:avLst/>
          </a:prstGeom>
        </p:spPr>
      </p:pic>
      <p:pic>
        <p:nvPicPr>
          <p:cNvPr id="11" name="Picture 10">
            <a:extLst>
              <a:ext uri="{FF2B5EF4-FFF2-40B4-BE49-F238E27FC236}">
                <a16:creationId xmlns:a16="http://schemas.microsoft.com/office/drawing/2014/main" id="{D6938958-B8AA-E738-1AD8-3B8E972F8DE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78035" y="2633136"/>
            <a:ext cx="6418242" cy="1734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8763728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C9A50E8-0518-AADE-808F-75ACB64326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A751CCB-2A13-BBD2-6EB5-82861A1E38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zh-CN" dirty="0"/>
              <a:t>IPC</a:t>
            </a:r>
            <a:r>
              <a:rPr lang="zh-CN" altLang="en-US" dirty="0"/>
              <a:t>双核数据交互：</a:t>
            </a:r>
            <a:endParaRPr lang="en-US" dirty="0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0018666-EAC1-EEDD-ADCA-3CEB2F1DEEF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619251"/>
            <a:ext cx="11210926" cy="1325563"/>
          </a:xfrm>
        </p:spPr>
        <p:txBody>
          <a:bodyPr>
            <a:normAutofit fontScale="77500" lnSpcReduction="20000"/>
          </a:bodyPr>
          <a:lstStyle/>
          <a:p>
            <a:r>
              <a:rPr lang="zh-CN" altLang="en-US" sz="1200" b="1" dirty="0">
                <a:solidFill>
                  <a:srgbClr val="FF0000"/>
                </a:solidFill>
              </a:rPr>
              <a:t>触发逻辑：</a:t>
            </a:r>
            <a:endParaRPr lang="en-US" altLang="zh-CN" sz="1200" b="1" dirty="0">
              <a:solidFill>
                <a:srgbClr val="FF0000"/>
              </a:solidFill>
            </a:endParaRPr>
          </a:p>
          <a:p>
            <a:r>
              <a:rPr lang="zh-CN" altLang="en-US" sz="1200" b="1" dirty="0"/>
              <a:t>双核均初始化</a:t>
            </a:r>
            <a:r>
              <a:rPr lang="en-US" altLang="zh-CN" sz="1200" b="1" dirty="0"/>
              <a:t>IPC</a:t>
            </a:r>
            <a:r>
              <a:rPr lang="zh-CN" altLang="en-US" sz="1200" b="1" dirty="0"/>
              <a:t>模块，一个是收，一个是发   </a:t>
            </a:r>
            <a:endParaRPr lang="en-US" altLang="zh-CN" sz="1200" b="1" dirty="0"/>
          </a:p>
          <a:p>
            <a:r>
              <a:rPr lang="zh-CN" altLang="en-US" sz="1200" b="1" dirty="0">
                <a:sym typeface="Wingdings" panose="05000000000000000000" pitchFamily="2" charset="2"/>
              </a:rPr>
              <a:t>初始化</a:t>
            </a:r>
            <a:r>
              <a:rPr lang="en-US" altLang="zh-CN" sz="1200" b="1" dirty="0">
                <a:sym typeface="Wingdings" panose="05000000000000000000" pitchFamily="2" charset="2"/>
              </a:rPr>
              <a:t>IPC</a:t>
            </a:r>
            <a:r>
              <a:rPr lang="zh-CN" altLang="en-US" sz="1200" b="1" dirty="0">
                <a:sym typeface="Wingdings" panose="05000000000000000000" pitchFamily="2" charset="2"/>
              </a:rPr>
              <a:t>模块，加入测试代码</a:t>
            </a:r>
            <a:endParaRPr lang="en-US" altLang="zh-CN" sz="1200" b="1" dirty="0">
              <a:sym typeface="Wingdings" panose="05000000000000000000" pitchFamily="2" charset="2"/>
            </a:endParaRPr>
          </a:p>
          <a:p>
            <a:pPr marL="0" indent="0">
              <a:buNone/>
            </a:pPr>
            <a:r>
              <a:rPr lang="en-US" altLang="zh-CN" sz="1200" b="1" dirty="0" err="1">
                <a:sym typeface="Wingdings" panose="05000000000000000000" pitchFamily="2" charset="2"/>
              </a:rPr>
              <a:t>R_IPC_Open</a:t>
            </a:r>
            <a:r>
              <a:rPr lang="en-US" altLang="zh-CN" sz="1200" b="1" dirty="0">
                <a:sym typeface="Wingdings" panose="05000000000000000000" pitchFamily="2" charset="2"/>
              </a:rPr>
              <a:t>(&amp;g_ipc0_ctrl, &amp;g_ipc0_cfg);//0: receive data from core 0</a:t>
            </a:r>
          </a:p>
          <a:p>
            <a:pPr marL="0" indent="0">
              <a:buNone/>
            </a:pPr>
            <a:r>
              <a:rPr lang="en-US" altLang="zh-CN" sz="1200" b="1" dirty="0">
                <a:sym typeface="Wingdings" panose="05000000000000000000" pitchFamily="2" charset="2"/>
              </a:rPr>
              <a:t> </a:t>
            </a:r>
            <a:r>
              <a:rPr lang="en-US" altLang="zh-CN" sz="1200" b="1" dirty="0" err="1">
                <a:sym typeface="Wingdings" panose="05000000000000000000" pitchFamily="2" charset="2"/>
              </a:rPr>
              <a:t>R_IPC_Open</a:t>
            </a:r>
            <a:r>
              <a:rPr lang="en-US" altLang="zh-CN" sz="1200" b="1" dirty="0">
                <a:sym typeface="Wingdings" panose="05000000000000000000" pitchFamily="2" charset="2"/>
              </a:rPr>
              <a:t>(&amp;g_ipc1_ctrl, &amp;g_ipc1_cfg);//1: send data </a:t>
            </a:r>
            <a:r>
              <a:rPr lang="en-US" altLang="zh-CN" sz="1200" b="1" dirty="0" err="1">
                <a:sym typeface="Wingdings" panose="05000000000000000000" pitchFamily="2" charset="2"/>
              </a:rPr>
              <a:t>yo</a:t>
            </a:r>
            <a:r>
              <a:rPr lang="en-US" altLang="zh-CN" sz="1200" b="1" dirty="0">
                <a:sym typeface="Wingdings" panose="05000000000000000000" pitchFamily="2" charset="2"/>
              </a:rPr>
              <a:t> core 0</a:t>
            </a:r>
          </a:p>
          <a:p>
            <a:pPr marL="0" indent="0">
              <a:buNone/>
            </a:pPr>
            <a:r>
              <a:rPr lang="en-US" altLang="zh-CN" sz="1200" b="1" dirty="0" err="1">
                <a:sym typeface="Wingdings" panose="05000000000000000000" pitchFamily="2" charset="2"/>
              </a:rPr>
              <a:t>R_IPC_MessageSend</a:t>
            </a:r>
            <a:r>
              <a:rPr lang="en-US" altLang="zh-CN" sz="1200" b="1" dirty="0">
                <a:sym typeface="Wingdings" panose="05000000000000000000" pitchFamily="2" charset="2"/>
              </a:rPr>
              <a:t>(&amp;g_ipc0_ctrl, </a:t>
            </a:r>
            <a:r>
              <a:rPr lang="en-US" altLang="zh-CN" sz="1200" b="1" dirty="0" err="1">
                <a:sym typeface="Wingdings" panose="05000000000000000000" pitchFamily="2" charset="2"/>
              </a:rPr>
              <a:t>g_last_message_send</a:t>
            </a:r>
            <a:r>
              <a:rPr lang="en-US" altLang="zh-CN" sz="1200" b="1" dirty="0">
                <a:sym typeface="Wingdings" panose="05000000000000000000" pitchFamily="2" charset="2"/>
              </a:rPr>
              <a:t>);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364E685-A91B-6F8F-961E-D14ADAA000B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48300" y="3564762"/>
            <a:ext cx="4219575" cy="2903137"/>
          </a:xfrm>
          <a:prstGeom prst="rect">
            <a:avLst/>
          </a:prstGeom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AB5BCC09-9CF0-CF20-4944-FB8FE04C3AC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4609" y="3429000"/>
            <a:ext cx="4572638" cy="3038899"/>
          </a:xfrm>
          <a:prstGeom prst="rect">
            <a:avLst/>
          </a:prstGeom>
        </p:spPr>
      </p:pic>
      <p:pic>
        <p:nvPicPr>
          <p:cNvPr id="10" name="Picture 9">
            <a:extLst>
              <a:ext uri="{FF2B5EF4-FFF2-40B4-BE49-F238E27FC236}">
                <a16:creationId xmlns:a16="http://schemas.microsoft.com/office/drawing/2014/main" id="{F9D6C8F5-DCCA-F763-F0E7-4FFC6F234C4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86425" y="1421091"/>
            <a:ext cx="6572250" cy="17218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4001776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118</TotalTime>
  <Words>596</Words>
  <Application>Microsoft Office PowerPoint</Application>
  <PresentationFormat>Widescreen</PresentationFormat>
  <Paragraphs>51</Paragraphs>
  <Slides>10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5" baseType="lpstr">
      <vt:lpstr>Aptos</vt:lpstr>
      <vt:lpstr>Aptos Display</vt:lpstr>
      <vt:lpstr>Arial</vt:lpstr>
      <vt:lpstr>Wingdings</vt:lpstr>
      <vt:lpstr>Office Theme</vt:lpstr>
      <vt:lpstr>RA8T2 外设使用指导</vt:lpstr>
      <vt:lpstr>运算代码执行在itcm:</vt:lpstr>
      <vt:lpstr>运算代码执行在itcm:</vt:lpstr>
      <vt:lpstr>运算代码执行在sram</vt:lpstr>
      <vt:lpstr>运算代码执行在MRAM</vt:lpstr>
      <vt:lpstr>为何在itcm/sram/mram执行速度没有很大区别：因为主要是三角函数耗时较长，三角函数执行被编译器限制到了MRAM里，如下图可以看到：</vt:lpstr>
      <vt:lpstr>使用CMSIS-DSP库加速：</vt:lpstr>
      <vt:lpstr>ADC外设</vt:lpstr>
      <vt:lpstr>串口自动读取编码器：</vt:lpstr>
      <vt:lpstr>IPC双核数据交互：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Carter Liu</dc:creator>
  <cp:lastModifiedBy>Carter Liu</cp:lastModifiedBy>
  <cp:revision>21</cp:revision>
  <dcterms:created xsi:type="dcterms:W3CDTF">2025-12-01T01:12:12Z</dcterms:created>
  <dcterms:modified xsi:type="dcterms:W3CDTF">2025-12-01T05:54:05Z</dcterms:modified>
</cp:coreProperties>
</file>